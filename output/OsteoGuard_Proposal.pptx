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bcd8a1db9a495f" /><Relationship Type="http://schemas.openxmlformats.org/officeDocument/2006/relationships/extended-properties" Target="/docProps/app.xml" Id="R154a930516a94cbe" /><Relationship Type="http://schemas.openxmlformats.org/officeDocument/2006/relationships/officeDocument" Target="/ppt/presentation.xml" Id="R95c985f2584e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e063687e341d8"/>
  </p:sldMasterIdLst>
  <p:notesMasterIdLst>
    <p:notesMasterId xmlns:r="http://schemas.openxmlformats.org/officeDocument/2006/relationships" r:id="Rd9915376fa3b43c4"/>
  </p:notesMasterIdLst>
  <p:sldIdLst>
    <p:sldId xmlns:r="http://schemas.openxmlformats.org/officeDocument/2006/relationships" id="256" r:id="R56e4e41ac8954417"/>
    <p:sldId xmlns:r="http://schemas.openxmlformats.org/officeDocument/2006/relationships" id="257" r:id="R4d4c90fd72db4960"/>
    <p:sldId xmlns:r="http://schemas.openxmlformats.org/officeDocument/2006/relationships" id="258" r:id="Rbc3ac8b043fa404c"/>
    <p:sldId xmlns:r="http://schemas.openxmlformats.org/officeDocument/2006/relationships" id="259" r:id="R92f7a8dc3f324f99"/>
    <p:sldId xmlns:r="http://schemas.openxmlformats.org/officeDocument/2006/relationships" id="260" r:id="R63dcf43d21aa400d"/>
    <p:sldId xmlns:r="http://schemas.openxmlformats.org/officeDocument/2006/relationships" id="261" r:id="R2818268fce274c8c"/>
    <p:sldId xmlns:r="http://schemas.openxmlformats.org/officeDocument/2006/relationships" id="262" r:id="R460b9eaabc7b4343"/>
    <p:sldId xmlns:r="http://schemas.openxmlformats.org/officeDocument/2006/relationships" id="263" r:id="Rf29d0b6d3d14493d"/>
    <p:sldId xmlns:r="http://schemas.openxmlformats.org/officeDocument/2006/relationships" id="264" r:id="R1501f09958494369"/>
    <p:sldId xmlns:r="http://schemas.openxmlformats.org/officeDocument/2006/relationships" id="265" r:id="R0d278dea420746fb"/>
    <p:sldId xmlns:r="http://schemas.openxmlformats.org/officeDocument/2006/relationships" id="266" r:id="R8ca0ebbbe4eb471e"/>
    <p:sldId xmlns:r="http://schemas.openxmlformats.org/officeDocument/2006/relationships" id="267" r:id="R5fdeecaaed724191"/>
    <p:sldId xmlns:r="http://schemas.openxmlformats.org/officeDocument/2006/relationships" id="268" r:id="R068f598e79c64494"/>
    <p:sldId xmlns:r="http://schemas.openxmlformats.org/officeDocument/2006/relationships" id="269" r:id="R800466350bb549cd"/>
    <p:sldId xmlns:r="http://schemas.openxmlformats.org/officeDocument/2006/relationships" id="270" r:id="R1fca401676004e09"/>
    <p:sldId xmlns:r="http://schemas.openxmlformats.org/officeDocument/2006/relationships" id="271" r:id="R1ae4d1d5815c4dab"/>
    <p:sldId xmlns:r="http://schemas.openxmlformats.org/officeDocument/2006/relationships" id="272" r:id="R0a15bf80165c4d02"/>
    <p:sldId xmlns:r="http://schemas.openxmlformats.org/officeDocument/2006/relationships" id="273" r:id="R42a2eac199e84794"/>
    <p:sldId xmlns:r="http://schemas.openxmlformats.org/officeDocument/2006/relationships" id="274" r:id="Rf16b6d7ae7f448e6"/>
    <p:sldId xmlns:r="http://schemas.openxmlformats.org/officeDocument/2006/relationships" id="275" r:id="Rb3233a1653ee4333"/>
    <p:sldId xmlns:r="http://schemas.openxmlformats.org/officeDocument/2006/relationships" id="276" r:id="R2ec7475d930f408c"/>
    <p:sldId xmlns:r="http://schemas.openxmlformats.org/officeDocument/2006/relationships" id="277" r:id="Rb24b1e9b73e04786"/>
    <p:sldId xmlns:r="http://schemas.openxmlformats.org/officeDocument/2006/relationships" id="278" r:id="R564949890db849a5"/>
    <p:sldId xmlns:r="http://schemas.openxmlformats.org/officeDocument/2006/relationships" id="279" r:id="R89cdfdc632fc4151"/>
    <p:sldId xmlns:r="http://schemas.openxmlformats.org/officeDocument/2006/relationships" id="280" r:id="Rd24e428438014cd3"/>
    <p:sldId xmlns:r="http://schemas.openxmlformats.org/officeDocument/2006/relationships" id="281" r:id="R171aac10bb5c4120"/>
    <p:sldId xmlns:r="http://schemas.openxmlformats.org/officeDocument/2006/relationships" id="282" r:id="R5c0b090deea9477e"/>
    <p:sldId xmlns:r="http://schemas.openxmlformats.org/officeDocument/2006/relationships" id="283" r:id="R1284fe23bbac42e5"/>
    <p:sldId xmlns:r="http://schemas.openxmlformats.org/officeDocument/2006/relationships" id="284" r:id="R43adca6ba99c46c2"/>
    <p:sldId xmlns:r="http://schemas.openxmlformats.org/officeDocument/2006/relationships" id="285" r:id="R05c35fb2a3d94fef"/>
    <p:sldId xmlns:r="http://schemas.openxmlformats.org/officeDocument/2006/relationships" id="286" r:id="R3f599378ba0f4c6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cf2473be714596" /><Relationship Type="http://schemas.openxmlformats.org/officeDocument/2006/relationships/slideMaster" Target="/ppt/slideMasters/slideMaster1.xml" Id="R011e063687e341d8" /><Relationship Type="http://schemas.openxmlformats.org/officeDocument/2006/relationships/notesMaster" Target="/ppt/notesMasters/notesMaster1.xml" Id="Rd9915376fa3b43c4" /><Relationship Type="http://schemas.openxmlformats.org/officeDocument/2006/relationships/presProps" Target="/ppt/presProps.xml" Id="R855bb0abbb844c8a" /><Relationship Type="http://schemas.openxmlformats.org/officeDocument/2006/relationships/tableStyles" Target="/ppt/tableStyles.xml" Id="Reaaffd471ae14d04" /><Relationship Type="http://schemas.openxmlformats.org/officeDocument/2006/relationships/slide" Target="/ppt/slides/slide1.xml" Id="R56e4e41ac8954417" /><Relationship Type="http://schemas.openxmlformats.org/officeDocument/2006/relationships/slide" Target="/ppt/slides/slide2.xml" Id="R4d4c90fd72db4960" /><Relationship Type="http://schemas.openxmlformats.org/officeDocument/2006/relationships/slide" Target="/ppt/slides/slide3.xml" Id="Rbc3ac8b043fa404c" /><Relationship Type="http://schemas.openxmlformats.org/officeDocument/2006/relationships/slide" Target="/ppt/slides/slide4.xml" Id="R92f7a8dc3f324f99" /><Relationship Type="http://schemas.openxmlformats.org/officeDocument/2006/relationships/slide" Target="/ppt/slides/slide5.xml" Id="R63dcf43d21aa400d" /><Relationship Type="http://schemas.openxmlformats.org/officeDocument/2006/relationships/slide" Target="/ppt/slides/slide6.xml" Id="R2818268fce274c8c" /><Relationship Type="http://schemas.openxmlformats.org/officeDocument/2006/relationships/slide" Target="/ppt/slides/slide7.xml" Id="R460b9eaabc7b4343" /><Relationship Type="http://schemas.openxmlformats.org/officeDocument/2006/relationships/slide" Target="/ppt/slides/slide8.xml" Id="Rf29d0b6d3d14493d" /><Relationship Type="http://schemas.openxmlformats.org/officeDocument/2006/relationships/slide" Target="/ppt/slides/slide9.xml" Id="R1501f09958494369" /><Relationship Type="http://schemas.openxmlformats.org/officeDocument/2006/relationships/slide" Target="/ppt/slides/slide10.xml" Id="R0d278dea420746fb" /><Relationship Type="http://schemas.openxmlformats.org/officeDocument/2006/relationships/slide" Target="/ppt/slides/slide11.xml" Id="R8ca0ebbbe4eb471e" /><Relationship Type="http://schemas.openxmlformats.org/officeDocument/2006/relationships/slide" Target="/ppt/slides/slide12.xml" Id="R5fdeecaaed724191" /><Relationship Type="http://schemas.openxmlformats.org/officeDocument/2006/relationships/slide" Target="/ppt/slides/slide13.xml" Id="R068f598e79c64494" /><Relationship Type="http://schemas.openxmlformats.org/officeDocument/2006/relationships/slide" Target="/ppt/slides/slide14.xml" Id="R800466350bb549cd" /><Relationship Type="http://schemas.openxmlformats.org/officeDocument/2006/relationships/slide" Target="/ppt/slides/slide15.xml" Id="R1fca401676004e09" /><Relationship Type="http://schemas.openxmlformats.org/officeDocument/2006/relationships/slide" Target="/ppt/slides/slide16.xml" Id="R1ae4d1d5815c4dab" /><Relationship Type="http://schemas.openxmlformats.org/officeDocument/2006/relationships/slide" Target="/ppt/slides/slide17.xml" Id="R0a15bf80165c4d02" /><Relationship Type="http://schemas.openxmlformats.org/officeDocument/2006/relationships/slide" Target="/ppt/slides/slide18.xml" Id="R42a2eac199e84794" /><Relationship Type="http://schemas.openxmlformats.org/officeDocument/2006/relationships/slide" Target="/ppt/slides/slide19.xml" Id="Rf16b6d7ae7f448e6" /><Relationship Type="http://schemas.openxmlformats.org/officeDocument/2006/relationships/slide" Target="/ppt/slides/slide20.xml" Id="Rb3233a1653ee4333" /><Relationship Type="http://schemas.openxmlformats.org/officeDocument/2006/relationships/slide" Target="/ppt/slides/slide21.xml" Id="R2ec7475d930f408c" /><Relationship Type="http://schemas.openxmlformats.org/officeDocument/2006/relationships/slide" Target="/ppt/slides/slide22.xml" Id="Rb24b1e9b73e04786" /><Relationship Type="http://schemas.openxmlformats.org/officeDocument/2006/relationships/slide" Target="/ppt/slides/slide23.xml" Id="R564949890db849a5" /><Relationship Type="http://schemas.openxmlformats.org/officeDocument/2006/relationships/slide" Target="/ppt/slides/slide24.xml" Id="R89cdfdc632fc4151" /><Relationship Type="http://schemas.openxmlformats.org/officeDocument/2006/relationships/slide" Target="/ppt/slides/slide25.xml" Id="Rd24e428438014cd3" /><Relationship Type="http://schemas.openxmlformats.org/officeDocument/2006/relationships/slide" Target="/ppt/slides/slide26.xml" Id="R171aac10bb5c4120" /><Relationship Type="http://schemas.openxmlformats.org/officeDocument/2006/relationships/slide" Target="/ppt/slides/slide27.xml" Id="R5c0b090deea9477e" /><Relationship Type="http://schemas.openxmlformats.org/officeDocument/2006/relationships/slide" Target="/ppt/slides/slide28.xml" Id="R1284fe23bbac42e5" /><Relationship Type="http://schemas.openxmlformats.org/officeDocument/2006/relationships/slide" Target="/ppt/slides/slide29.xml" Id="R43adca6ba99c46c2" /><Relationship Type="http://schemas.openxmlformats.org/officeDocument/2006/relationships/slide" Target="/ppt/slides/slide30.xml" Id="R05c35fb2a3d94fef" /><Relationship Type="http://schemas.openxmlformats.org/officeDocument/2006/relationships/slide" Target="/ppt/slides/slide31.xml" Id="R3f599378ba0f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38ff9a5dc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2379759f44e8c" /><Relationship Type="http://schemas.openxmlformats.org/officeDocument/2006/relationships/notesMaster" Target="/ppt/notesMasters/notesMaster1.xml" Id="R5a9af4930a7849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ae52277f98472b" /><Relationship Type="http://schemas.openxmlformats.org/officeDocument/2006/relationships/notesMaster" Target="/ppt/notesMasters/notesMaster1.xml" Id="R7c16aa2c0aa4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3b0207db21479c" /><Relationship Type="http://schemas.openxmlformats.org/officeDocument/2006/relationships/notesMaster" Target="/ppt/notesMasters/notesMaster1.xml" Id="Rb5c31b8de88046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fcc5392ec84507" /><Relationship Type="http://schemas.openxmlformats.org/officeDocument/2006/relationships/notesMaster" Target="/ppt/notesMasters/notesMaster1.xml" Id="R4e7849ec2f10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2adffeecef4eb5" /><Relationship Type="http://schemas.openxmlformats.org/officeDocument/2006/relationships/notesMaster" Target="/ppt/notesMasters/notesMaster1.xml" Id="R70b1810764a44d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81c7825fb475b" /><Relationship Type="http://schemas.openxmlformats.org/officeDocument/2006/relationships/notesMaster" Target="/ppt/notesMasters/notesMaster1.xml" Id="R8e429ff4bd1d48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9009db23b487a" /><Relationship Type="http://schemas.openxmlformats.org/officeDocument/2006/relationships/notesMaster" Target="/ppt/notesMasters/notesMaster1.xml" Id="R2a634fcbd20042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8fe65cd5814a3e" /><Relationship Type="http://schemas.openxmlformats.org/officeDocument/2006/relationships/notesMaster" Target="/ppt/notesMasters/notesMaster1.xml" Id="Rf6300f19ba0c49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516db9486a490c" /><Relationship Type="http://schemas.openxmlformats.org/officeDocument/2006/relationships/notesMaster" Target="/ppt/notesMasters/notesMaster1.xml" Id="Raa647e40ad4f46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34078699a40d8" /><Relationship Type="http://schemas.openxmlformats.org/officeDocument/2006/relationships/notesMaster" Target="/ppt/notesMasters/notesMaster1.xml" Id="R78f6952378fe4e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ecc6ff047c4d01" /><Relationship Type="http://schemas.openxmlformats.org/officeDocument/2006/relationships/notesMaster" Target="/ppt/notesMasters/notesMaster1.xml" Id="R9236dfaf8f7a4d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1eb085021a4cba" /><Relationship Type="http://schemas.openxmlformats.org/officeDocument/2006/relationships/notesMaster" Target="/ppt/notesMasters/notesMaster1.xml" Id="Rb67858b83a5a43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bdae554a4e4516" /><Relationship Type="http://schemas.openxmlformats.org/officeDocument/2006/relationships/notesMaster" Target="/ppt/notesMasters/notesMaster1.xml" Id="R80e731a42ac94a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2d73f566ee4056" /><Relationship Type="http://schemas.openxmlformats.org/officeDocument/2006/relationships/notesMaster" Target="/ppt/notesMasters/notesMaster1.xml" Id="R264e73367c054a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685cf40fb34892" /><Relationship Type="http://schemas.openxmlformats.org/officeDocument/2006/relationships/notesMaster" Target="/ppt/notesMasters/notesMaster1.xml" Id="R8f6b1f198f0848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d4a7059d834fcf" /><Relationship Type="http://schemas.openxmlformats.org/officeDocument/2006/relationships/notesMaster" Target="/ppt/notesMasters/notesMaster1.xml" Id="Re924134f3d554d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cbbd572dee4fa3" /><Relationship Type="http://schemas.openxmlformats.org/officeDocument/2006/relationships/notesMaster" Target="/ppt/notesMasters/notesMaster1.xml" Id="R4cb9018b0f5e4b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e09ddb5c4f4c59" /><Relationship Type="http://schemas.openxmlformats.org/officeDocument/2006/relationships/notesMaster" Target="/ppt/notesMasters/notesMaster1.xml" Id="Rb1671bd9a9914d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2d7c2af77d49f5" /><Relationship Type="http://schemas.openxmlformats.org/officeDocument/2006/relationships/notesMaster" Target="/ppt/notesMasters/notesMaster1.xml" Id="R186c72cd44534e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8b0820217a48e3" /><Relationship Type="http://schemas.openxmlformats.org/officeDocument/2006/relationships/notesMaster" Target="/ppt/notesMasters/notesMaster1.xml" Id="R893a7c298ca643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916054b6a44179" /><Relationship Type="http://schemas.openxmlformats.org/officeDocument/2006/relationships/notesMaster" Target="/ppt/notesMasters/notesMaster1.xml" Id="Rb510859c189847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b7db042cb04de5" /><Relationship Type="http://schemas.openxmlformats.org/officeDocument/2006/relationships/notesMaster" Target="/ppt/notesMasters/notesMaster1.xml" Id="R40c40289bd8f4d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da104f6fd14d38" /><Relationship Type="http://schemas.openxmlformats.org/officeDocument/2006/relationships/notesMaster" Target="/ppt/notesMasters/notesMaster1.xml" Id="Rc448b35521c244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c22188b63504887" /><Relationship Type="http://schemas.openxmlformats.org/officeDocument/2006/relationships/notesMaster" Target="/ppt/notesMasters/notesMaster1.xml" Id="Re260f3fbf60c41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7040db7e544130" /><Relationship Type="http://schemas.openxmlformats.org/officeDocument/2006/relationships/notesMaster" Target="/ppt/notesMasters/notesMaster1.xml" Id="R1fca99a0c29d44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6bc2a5fda24c01" /><Relationship Type="http://schemas.openxmlformats.org/officeDocument/2006/relationships/notesMaster" Target="/ppt/notesMasters/notesMaster1.xml" Id="R6ee827a6ae6449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4b9500201b48df" /><Relationship Type="http://schemas.openxmlformats.org/officeDocument/2006/relationships/notesMaster" Target="/ppt/notesMasters/notesMaster1.xml" Id="R8ec4d205be18474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b151377d954a5b" /><Relationship Type="http://schemas.openxmlformats.org/officeDocument/2006/relationships/notesMaster" Target="/ppt/notesMasters/notesMaster1.xml" Id="Rfdcb88b3bfe945e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7eb475048843ac" /><Relationship Type="http://schemas.openxmlformats.org/officeDocument/2006/relationships/notesMaster" Target="/ppt/notesMasters/notesMaster1.xml" Id="Ra88d4a1fa521402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fe5c4f6a1e40ef" /><Relationship Type="http://schemas.openxmlformats.org/officeDocument/2006/relationships/notesMaster" Target="/ppt/notesMasters/notesMaster1.xml" Id="Rb573c7c703e246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743eff92ff645e9" /><Relationship Type="http://schemas.openxmlformats.org/officeDocument/2006/relationships/notesMaster" Target="/ppt/notesMasters/notesMaster1.xml" Id="R47d767d9ca7347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本簡報依據 PROPOSAL.md 與作業要求.md。研究目前為 Proposal，所有效能、應用價值與驗證均屬規劃或預期。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衛生福利部 (2026). 出席「2026健康台灣樂齡論壇」開幕，65歲以上人口占20.06%。https://www.mohw.gov.tw/cp-7396-85340-1.html</a:t>
            </a:r>
          </a:p>
          <a:p xmlns:a="http://schemas.openxmlformats.org/drawingml/2006/main">
            <a:r>
              <a:t>[2] Kanis et al. (2019). European guidance for the diagnosis and management of osteoporosis in postmenopausal women. Osteoporosis International 30, 3–44. https://doi.org/10.1007/s00198-018-4704-5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ISCD (2023). Official Adult Positions. https://iscd.org/official-positions-2023/</a:t>
            </a:r>
          </a:p>
          <a:p xmlns:a="http://schemas.openxmlformats.org/drawingml/2006/main">
            <a:r>
              <a:t>[2] Kanis et al. (2019). European guidance for the diagnosis and management of osteoporosis in postmenopausal women. Osteoporosis International 30, 3–44. https://doi.org/10.1007/s00198-018-4704-5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4,593 與 3,545 為 CDC codebook 公布之 scan status 頻數，尚非本研究已執行清理之成果。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CDC/NCHS (2021). NHANES 2017–March 2020, P_DXXFEM. https://wwwn.cdc.gov/Nchs/Data/Nhanes/Public/2017/DataFiles/P_DXXFEM.htm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以可核對原始研究取代提案表格中尚未具體指認的 Shim／Med-Agent 類別敘述。以下是通用技術依據，其效能不能直接視為本研究醫療效果。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Chen &amp; Guestrin (2016). XGBoost: A Scalable Tree Boosting System. KDD, 785–794. https://arxiv.org/abs/1603.02754</a:t>
            </a:r>
          </a:p>
          <a:p xmlns:a="http://schemas.openxmlformats.org/drawingml/2006/main">
            <a:r>
              <a:t>[4] Lundberg &amp; Lee (2017). A Unified Approach to Interpreting Model Predictions. NeurIPS 30. https://arxiv.org/abs/1705.07874</a:t>
            </a:r>
          </a:p>
          <a:p xmlns:a="http://schemas.openxmlformats.org/drawingml/2006/main">
            <a:r>
              <a:t>[8] Lewis et al. (2020). Retrieval-Augmented Generation for Knowledge-Intensive NLP Tasks. NeurIPS 33. https://arxiv.org/abs/2005.11401</a:t>
            </a:r>
          </a:p>
          <a:p xmlns:a="http://schemas.openxmlformats.org/drawingml/2006/main">
            <a:r>
              <a:t>[9] Yao et al. (2023). ReAct: Synergizing Reasoning and Acting in Language Models. ICLR 2023. https://arxiv.org/abs/2210.03629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CDC/NCHS (2021). NHANES 2017–March 2020, P_DXXFEM. https://wwwn.cdc.gov/Nchs/Data/Nhanes/Public/2017/DataFiles/P_DXXFEM.htm</a:t>
            </a:r>
          </a:p>
          <a:p xmlns:a="http://schemas.openxmlformats.org/drawingml/2006/main">
            <a:r>
              <a:t>[2] Kanis et al. (2019). European guidance for the diagnosis and management of osteoporosis in postmenopausal women. Osteoporosis International 30, 3–44. https://doi.org/10.1007/s00198-018-4704-5</a:t>
            </a:r>
          </a:p>
          <a:p xmlns:a="http://schemas.openxmlformats.org/drawingml/2006/main">
            <a:r>
              <a:t>[3] LeBoff et al. (2022). The clinician’s guide to prevention and treatment of osteoporosis. Osteoporosis International 33, 2049–2102. https://doi.org/10.1007/s00198-021-05900-y</a:t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Research Gap 為本專題在所選文獻範圍下的研究定位，不宣稱全球首創或已完成系統性文獻回顧。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ISCD (2023). Official Adult Positions. https://iscd.org/official-positions-2023/</a:t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  <a:p xmlns:a="http://schemas.openxmlformats.org/drawingml/2006/main">
            <a:r>
              <a:t>[4] Lundberg &amp; Lee (2017). A Unified Approach to Interpreting Model Predictions. NeurIPS 30. https://arxiv.org/abs/1705.07874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觀點與證據為提案議題整理。模型優劣與 Agent 的領域安全性是待驗證問題，不預設樹模型一定優於 LR。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Kanis et al. (2019). European guidance for the diagnosis and management of osteoporosis in postmenopausal women. Osteoporosis International 30, 3–44. https://doi.org/10.1007/s00198-018-4704-5</a:t>
            </a:r>
          </a:p>
          <a:p xmlns:a="http://schemas.openxmlformats.org/drawingml/2006/main">
            <a:r>
              <a:t>[4] Lundberg &amp; Lee (2017). A Unified Approach to Interpreting Model Predictions. NeurIPS 30. https://arxiv.org/abs/1705.07874</a:t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  <a:p xmlns:a="http://schemas.openxmlformats.org/drawingml/2006/main">
            <a:r>
              <a:t>[8] Lewis et al. (2020). Retrieval-Augmented Generation for Knowledge-Intensive NLP Tasks. NeurIPS 33.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工具名稱與狀態欄位為依提案補足的實作規格。多模型於離線比較，線上使用經驗證且版本固定的模型。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保留提案六層：Data、Analytics、AI、Domain Knowledge、Reasoning、Application。③為調度中樞，⑤包含 Analytics 與 AI，⑦整合模型輸出、SHAP、規則與證據。圖中箭頭表示資料或工具回傳，不表示每次上線重新訓練。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此頁是對提案實作順序的具體化。模型選擇在離線驗證完成後固定。SHAP 必須對應實際產生分數的模型，不能用 XGBoost 解釋另一個模型。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主要流程上半部對應提案九步流程的1至6。驗證失敗要求修正，不使用不明缺值進行醫療分級。風險分支是衛教與轉介路由，不直接當作未來骨折機率。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第6至9步保留提案主幹。補足生成後安全檢核、工具失敗降級與追問時輸入變更路由。RAG 證據不足時應明確說明不足或轉介。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  <a:p xmlns:a="http://schemas.openxmlformats.org/drawingml/2006/main">
            <a:r>
              <a:t>[7] ISCD (2023). Official Adult Positions. https://iscd.org/official-positions-2023/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運動強度應綜合骨折史、跌倒、活動能力與指引，不僅根據 T-score 一刀切。營養數值需依年齡、性別、疾病與總攝取量確認。本頁為設計與規則規劃。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ISCD (2023). Official Adult Positions. https://iscd.org/official-positions-2023/</a:t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  <a:p xmlns:a="http://schemas.openxmlformats.org/drawingml/2006/main">
            <a:r>
              <a:t>[11] NIAMS. Calcium and Vitamin D: Important for Bone Health. https://www.niams.nih.gov/health-topics/calcium-and-vitamin-d-important-bone-health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演算法依 PROPOSAL.md 5.3 整理成32行，補足模型解釋一致性、常模適用性、輸出安全檢核與多輪更新。M*為離線驗證選定模型，不在單一個案上臨時選擇最佳模型。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高風險路由不等同未來骨折機率。CheckOutput驗證工具數值、引用依據與規則，若修復失敗或無足夠資料則SafeFallback。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本頁為提案實作前需要明確化的實驗限制。若以相同 BMD 導出的 T-score 分級為標籤，又將 BMD、BMC及Area作為特徵，任務可能只是重現規則，不能據此聲稱預測未來骨折。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所有案例均為預定測試情境，不是實際患者結果，也未代表系統已通過測試。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  <a:p xmlns:a="http://schemas.openxmlformats.org/drawingml/2006/main">
            <a:r>
              <a:t>[11] NIAMS. Calcium and Vitamin D: Important for Bone Health. https://www.niams.nih.gov/health-topics/calcium-and-vitamin-d-important-bone-health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>以下為相對里程碑，並非作業已指定的日期或已完成進度。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CDC/NCHS (2021). NHANES 2017–March 2020, P_DXXFEM. https://wwwn.cdc.gov/Nchs/Data/Nhanes/Public/2017/DataFiles/P_DXXFEM.htm</a:t>
            </a:r>
          </a:p>
          <a:p xmlns:a="http://schemas.openxmlformats.org/drawingml/2006/main">
            <a:r>
              <a:t>[2] Kanis et al. (2019). European guidance for the diagnosis and management of osteoporosis in postmenopausal women. Osteoporosis International 30, 3–44. https://doi.org/10.1007/s00198-018-4704-5</a:t>
            </a:r>
          </a:p>
          <a:p xmlns:a="http://schemas.openxmlformats.org/drawingml/2006/main">
            <a:r>
              <a:t>[3] LeBoff et al. (2022). The clinician’s guide to prevention and treatment of osteoporosis. Osteoporosis International 33, 2049–2102. https://doi.org/10.1007/s00198-021-05900-y</a:t>
            </a:r>
          </a:p>
          <a:p xmlns:a="http://schemas.openxmlformats.org/drawingml/2006/main">
            <a:r>
              <a:t>[6] Brooke-Wavell et al. (2022). Strong, steady and straight: UK consensus statement on physical activity and exercise for osteoporosis. BJSM 56, 837–846. https://doi.org/10.1136/bjsports-2021-104634</a:t>
            </a:r>
          </a:p>
          <a:p xmlns:a="http://schemas.openxmlformats.org/drawingml/2006/main">
            <a:r>
              <a:t>[7] ISCD (2023). Official Adult Positions. https://iscd.org/official-positions-2023/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依據：PROPOSAL.md；作業要求.md。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Lundberg &amp; Lee (2017). A Unified Approach to Interpreting Model Predictions. NeurIPS 30. https://arxiv.org/abs/1705.07874</a:t>
            </a:r>
          </a:p>
          <a:p xmlns:a="http://schemas.openxmlformats.org/drawingml/2006/main">
            <a:r>
              <a:t>[5] Chen &amp; Guestrin (2016). XGBoost: A Scalable Tree Boosting System. KDD, 785–794. https://arxiv.org/abs/1603.02754</a:t>
            </a:r>
          </a:p>
          <a:p xmlns:a="http://schemas.openxmlformats.org/drawingml/2006/main">
            <a:r>
              <a:t>[8] Lewis et al. (2020). Retrieval-Augmented Generation for Knowledge-Intensive NLP Tasks. NeurIPS 33. https://arxiv.org/abs/2005.11401</a:t>
            </a:r>
          </a:p>
          <a:p xmlns:a="http://schemas.openxmlformats.org/drawingml/2006/main">
            <a:r>
              <a:t>[9] Yao et al. (2023). ReAct: Synergizing Reasoning and Acting in Language Models. ICLR 2023. https://arxiv.org/abs/2210.03629</a:t>
            </a:r>
          </a:p>
          <a:p xmlns:a="http://schemas.openxmlformats.org/drawingml/2006/main">
            <a:r>
              <a:t>[10] 衛生福利部 (2026). 出席「2026健康台灣樂齡論壇」開幕，65歲以上人口占20.06%。https://www.mohw.gov.tw/cp-7396-85340-1.html</a:t>
            </a:r>
          </a:p>
          <a:p xmlns:a="http://schemas.openxmlformats.org/drawingml/2006/main">
            <a:r>
              <a:t>[11] NIAMS. Calcium and Vitamin D: Important for Bone Health. https://www.niams.nih.gov/health-topics/calcium-and-vitamin-d-important-bone-health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dd93238ed48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f02be5fa3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d0542ae464e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a4c81735543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26df4bf5e4f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73ca157da42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FC863-ACF1-4860-9E2B-2B7DE6D5A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AED639-6886-4D01-B51A-C0ED4405F9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CDC532-1775-4024-BCC3-0E0B6CD6F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EEAAAE-E148-494B-85E0-694F0B33A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296BE8-0DD6-4ECA-8301-FD958EE2D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76C291-FE83-4FAC-A509-EACA755EB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A1BAAB-3E83-48A6-B8F6-54CF0ABD6A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39134B-D947-4F81-8E12-67898EBA5D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61F63F-BC72-4260-88C0-376BA72DC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F4CC94-C35E-4E53-B09B-E2999BA652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8bf8c0ccc490a" /><Relationship Type="http://schemas.openxmlformats.org/officeDocument/2006/relationships/slideLayout" Target="/ppt/slideLayouts/slideLayout1.xml" Id="Rbecd6bce032144bf" /><Relationship Type="http://schemas.openxmlformats.org/officeDocument/2006/relationships/slideLayout" Target="/ppt/slideLayouts/slideLayout2.xml" Id="R7d0d93f6fcff4e30" /><Relationship Type="http://schemas.openxmlformats.org/officeDocument/2006/relationships/slideLayout" Target="/ppt/slideLayouts/slideLayout3.xml" Id="R837cbfe891c5480d" /><Relationship Type="http://schemas.openxmlformats.org/officeDocument/2006/relationships/slideLayout" Target="/ppt/slideLayouts/slideLayout4.xml" Id="R0bf097893c7f4fc0" /><Relationship Type="http://schemas.openxmlformats.org/officeDocument/2006/relationships/slideLayout" Target="/ppt/slideLayouts/slideLayout5.xml" Id="Rbe67790cacd74073" /><Relationship Type="http://schemas.openxmlformats.org/officeDocument/2006/relationships/slideLayout" Target="/ppt/slideLayouts/slideLayout6.xml" Id="R1cc7bc217d46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d6bce032144bf"/>
    <p:sldLayoutId xmlns:r="http://schemas.openxmlformats.org/officeDocument/2006/relationships" id="2147483650" r:id="R7d0d93f6fcff4e30"/>
    <p:sldLayoutId xmlns:r="http://schemas.openxmlformats.org/officeDocument/2006/relationships" id="2147483651" r:id="R837cbfe891c5480d"/>
    <p:sldLayoutId xmlns:r="http://schemas.openxmlformats.org/officeDocument/2006/relationships" id="2147483652" r:id="R0bf097893c7f4fc0"/>
    <p:sldLayoutId xmlns:r="http://schemas.openxmlformats.org/officeDocument/2006/relationships" id="2147483653" r:id="Rbe67790cacd74073"/>
    <p:sldLayoutId xmlns:r="http://schemas.openxmlformats.org/officeDocument/2006/relationships" id="2147483654" r:id="R1cc7bc217d46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5e15ddd174ec3" /><Relationship Type="http://schemas.openxmlformats.org/officeDocument/2006/relationships/notesSlide" Target="/ppt/notesSlides/notesSlide1.xml" Id="R9b3c0e16582043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820c67910445e" /><Relationship Type="http://schemas.openxmlformats.org/officeDocument/2006/relationships/notesSlide" Target="/ppt/notesSlides/notesSlide2.xml" Id="R573673e38d21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5453f7d404f77" /><Relationship Type="http://schemas.openxmlformats.org/officeDocument/2006/relationships/notesSlide" Target="/ppt/notesSlides/notesSlide3.xml" Id="Rc66945cf262c47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8bf305c744a0e" /><Relationship Type="http://schemas.openxmlformats.org/officeDocument/2006/relationships/notesSlide" Target="/ppt/notesSlides/notesSlide4.xml" Id="Receac5806ecc45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ba65e27254731" /><Relationship Type="http://schemas.openxmlformats.org/officeDocument/2006/relationships/notesSlide" Target="/ppt/notesSlides/notesSlide5.xml" Id="R6568477c325f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ef95340bf4939" /><Relationship Type="http://schemas.openxmlformats.org/officeDocument/2006/relationships/notesSlide" Target="/ppt/notesSlides/notesSlide6.xml" Id="R903d9a4e8afa44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9db8ba9e24ded" /><Relationship Type="http://schemas.openxmlformats.org/officeDocument/2006/relationships/notesSlide" Target="/ppt/notesSlides/notesSlide7.xml" Id="Rc539f173d3ae4c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e5940eb26448c" /><Relationship Type="http://schemas.openxmlformats.org/officeDocument/2006/relationships/notesSlide" Target="/ppt/notesSlides/notesSlide8.xml" Id="Rb0487f8d609746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301cc92b647f9" /><Relationship Type="http://schemas.openxmlformats.org/officeDocument/2006/relationships/notesSlide" Target="/ppt/notesSlides/notesSlide9.xml" Id="R772a1cd56e724d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abd1ffa994d02" /><Relationship Type="http://schemas.openxmlformats.org/officeDocument/2006/relationships/notesSlide" Target="/ppt/notesSlides/notesSlide10.xml" Id="R3a97ab4b1a4443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4d42e7eec4b71" /><Relationship Type="http://schemas.openxmlformats.org/officeDocument/2006/relationships/notesSlide" Target="/ppt/notesSlides/notesSlide11.xml" Id="Rdfe7b0dacd054e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b9b697082448f" /><Relationship Type="http://schemas.openxmlformats.org/officeDocument/2006/relationships/notesSlide" Target="/ppt/notesSlides/notesSlide12.xml" Id="Rfa191f17e9af45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c21a3d43d401e" /><Relationship Type="http://schemas.openxmlformats.org/officeDocument/2006/relationships/notesSlide" Target="/ppt/notesSlides/notesSlide13.xml" Id="R82df73a5f27047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5d3985eea495b" /><Relationship Type="http://schemas.openxmlformats.org/officeDocument/2006/relationships/notesSlide" Target="/ppt/notesSlides/notesSlide14.xml" Id="Rbae72acde21449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6117313834599" /><Relationship Type="http://schemas.openxmlformats.org/officeDocument/2006/relationships/notesSlide" Target="/ppt/notesSlides/notesSlide15.xml" Id="R7361047605e444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03fa3622e4987" /><Relationship Type="http://schemas.openxmlformats.org/officeDocument/2006/relationships/notesSlide" Target="/ppt/notesSlides/notesSlide16.xml" Id="Rf9b2270d059644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59fd8cfaa44c7" /><Relationship Type="http://schemas.openxmlformats.org/officeDocument/2006/relationships/notesSlide" Target="/ppt/notesSlides/notesSlide17.xml" Id="R14f3e291a68945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b43acfd694647" /><Relationship Type="http://schemas.openxmlformats.org/officeDocument/2006/relationships/notesSlide" Target="/ppt/notesSlides/notesSlide18.xml" Id="R47233f079cbc42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e3fcc35644924" /><Relationship Type="http://schemas.openxmlformats.org/officeDocument/2006/relationships/notesSlide" Target="/ppt/notesSlides/notesSlide19.xml" Id="R637acd4f367748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a2ff6e0154e24" /><Relationship Type="http://schemas.openxmlformats.org/officeDocument/2006/relationships/notesSlide" Target="/ppt/notesSlides/notesSlide20.xml" Id="R932dfde8f7364f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490c2746846a1" /><Relationship Type="http://schemas.openxmlformats.org/officeDocument/2006/relationships/notesSlide" Target="/ppt/notesSlides/notesSlide21.xml" Id="R8855f18ff5b141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abccc59b647a1" /><Relationship Type="http://schemas.openxmlformats.org/officeDocument/2006/relationships/notesSlide" Target="/ppt/notesSlides/notesSlide22.xml" Id="Rb5baf1369e4346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a183292d8466f" /><Relationship Type="http://schemas.openxmlformats.org/officeDocument/2006/relationships/notesSlide" Target="/ppt/notesSlides/notesSlide23.xml" Id="R7d20b7f276984c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0e2d9c94a4443" /><Relationship Type="http://schemas.openxmlformats.org/officeDocument/2006/relationships/notesSlide" Target="/ppt/notesSlides/notesSlide24.xml" Id="R95f00be562ea495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9990c24a44f92" /><Relationship Type="http://schemas.openxmlformats.org/officeDocument/2006/relationships/notesSlide" Target="/ppt/notesSlides/notesSlide25.xml" Id="R5484fd5b03094f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d3ed5a8464fcb" /><Relationship Type="http://schemas.openxmlformats.org/officeDocument/2006/relationships/notesSlide" Target="/ppt/notesSlides/notesSlide26.xml" Id="R2a1f8f2266644a2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5d4bc38af48d7" /><Relationship Type="http://schemas.openxmlformats.org/officeDocument/2006/relationships/notesSlide" Target="/ppt/notesSlides/notesSlide27.xml" Id="Rf33546de8c6648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c42a735af42df" /><Relationship Type="http://schemas.openxmlformats.org/officeDocument/2006/relationships/notesSlide" Target="/ppt/notesSlides/notesSlide28.xml" Id="Rc48d0509b5ab43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f31cc30b44c29" /><Relationship Type="http://schemas.openxmlformats.org/officeDocument/2006/relationships/notesSlide" Target="/ppt/notesSlides/notesSlide29.xml" Id="R4a79dab8592a4b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c51c4390a45bf" /><Relationship Type="http://schemas.openxmlformats.org/officeDocument/2006/relationships/hyperlink" Target="https://wwwn.cdc.gov/Nchs/Data/Nhanes/Public/2017/DataFiles/P_DXXFEM.htm" TargetMode="External" Id="Rd3738920249041f3" /><Relationship Type="http://schemas.openxmlformats.org/officeDocument/2006/relationships/hyperlink" Target="https://doi.org/10.1007/s00198-018-4704-5" TargetMode="External" Id="R8f36dea91eb149a9" /><Relationship Type="http://schemas.openxmlformats.org/officeDocument/2006/relationships/hyperlink" Target="https://doi.org/10.1007/s00198-021-05900-y" TargetMode="External" Id="R51e0e53476244907" /><Relationship Type="http://schemas.openxmlformats.org/officeDocument/2006/relationships/hyperlink" Target="https://doi.org/10.1136/bjsports-2021-104634" TargetMode="External" Id="R1ddcb5eff80943d8" /><Relationship Type="http://schemas.openxmlformats.org/officeDocument/2006/relationships/hyperlink" Target="https://iscd.org/official-positions-2023/" TargetMode="External" Id="Rc6e27d6986a0403f" /><Relationship Type="http://schemas.openxmlformats.org/officeDocument/2006/relationships/notesSlide" Target="/ppt/notesSlides/notesSlide30.xml" Id="R437a3e8a53cc469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76918f2fb4e38" /><Relationship Type="http://schemas.openxmlformats.org/officeDocument/2006/relationships/hyperlink" Target="https://arxiv.org/abs/1705.07874" TargetMode="External" Id="R3643d2886d544992" /><Relationship Type="http://schemas.openxmlformats.org/officeDocument/2006/relationships/hyperlink" Target="https://arxiv.org/abs/1603.02754" TargetMode="External" Id="Rbd42142233b9492d" /><Relationship Type="http://schemas.openxmlformats.org/officeDocument/2006/relationships/hyperlink" Target="https://arxiv.org/abs/2005.11401" TargetMode="External" Id="Raa1dd9c9c9604e5e" /><Relationship Type="http://schemas.openxmlformats.org/officeDocument/2006/relationships/hyperlink" Target="https://arxiv.org/abs/2210.03629" TargetMode="External" Id="R290dd1eb48de4a4b" /><Relationship Type="http://schemas.openxmlformats.org/officeDocument/2006/relationships/hyperlink" Target="https://www.mohw.gov.tw/cp-7396-85340-1.html" TargetMode="External" Id="Reb1102742c1748d3" /><Relationship Type="http://schemas.openxmlformats.org/officeDocument/2006/relationships/hyperlink" Target="https://www.niams.nih.gov/health-topics/calcium-and-vitamin-d-important-bone-health" TargetMode="External" Id="R209cbce252024ba7" /><Relationship Type="http://schemas.openxmlformats.org/officeDocument/2006/relationships/notesSlide" Target="/ppt/notesSlides/notesSlide31.xml" Id="R7fb6de2d9aab46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INAL PROJECT PROPOSAL">
            <a:extLst xmlns:a="http://schemas.openxmlformats.org/drawingml/2006/main">
              <a:ext uri="{FF2B5EF4-FFF2-40B4-BE49-F238E27FC236}">
                <a16:creationId xmlns:a16="http://schemas.microsoft.com/office/drawing/2014/main" id="{C1158202-BE15-4FD2-BF31-04BC177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1285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7D1C4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87D1C4"/>
                </a:solidFill>
                <a:latin typeface="Heiti TC"/>
                <a:ea typeface="Heiti TC"/>
                <a:cs typeface="Heiti TC"/>
              </a:rPr>
              <a:t>FINAL PROJECT PROPOSAL</a:t>
            </a:r>
          </a:p>
        </p:txBody>
      </p:sp>
      <p:sp>
        <p:nvSpPr>
          <p:cNvPr id="2" name="OsteoGuard&#10;AI Agent">
            <a:extLst xmlns:a="http://schemas.openxmlformats.org/drawingml/2006/main">
              <a:ext uri="{FF2B5EF4-FFF2-40B4-BE49-F238E27FC236}">
                <a16:creationId xmlns:a16="http://schemas.microsoft.com/office/drawing/2014/main" id="{DD1A9C46-B493-4B58-8732-72043669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314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72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OsteoGuard</a:t>
            </a:r>
          </a:p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72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AI Agent</a:t>
            </a:r>
          </a:p>
        </p:txBody>
      </p:sp>
      <p:sp>
        <p:nvSpPr>
          <p:cNvPr id="3" name="基於 NHANES 骨密度資料之&#10;骨質疏鬆風險評估與健康管理智慧代理人">
            <a:extLst xmlns:a="http://schemas.openxmlformats.org/drawingml/2006/main">
              <a:ext uri="{FF2B5EF4-FFF2-40B4-BE49-F238E27FC236}">
                <a16:creationId xmlns:a16="http://schemas.microsoft.com/office/drawing/2014/main" id="{C41DC79B-85C4-4BF5-9AB2-E5A03C5F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285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基於 NHANES 骨密度資料之</a:t>
            </a:r>
          </a:p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骨質疏鬆風險評估與健康管理智慧代理人</a:t>
            </a:r>
          </a:p>
        </p:txBody>
      </p:sp>
      <p:sp>
        <p:nvSpPr>
          <p:cNvPr id="4" name="AI Agent + Domain Knowledge + Data Analytics ">
            <a:extLst xmlns:a="http://schemas.openxmlformats.org/drawingml/2006/main">
              <a:ext uri="{FF2B5EF4-FFF2-40B4-BE49-F238E27FC236}">
                <a16:creationId xmlns:a16="http://schemas.microsoft.com/office/drawing/2014/main" id="{F0F78B6E-7E33-4BCB-9448-93859E6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67550"/>
            <a:ext cx="1314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B5D9D5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B5D9D5"/>
                </a:solidFill>
                <a:latin typeface="Heiti TC"/>
                <a:ea typeface="Heiti TC"/>
                <a:cs typeface="Heiti TC"/>
              </a:rPr>
              <a:t>AI Agent + Domain Knowledge + Data Analytics + Real-World Application</a:t>
            </a:r>
          </a:p>
        </p:txBody>
      </p:sp>
    </p:spTree>
    <p:extLst>
      <p:ext uri="{BB962C8B-B14F-4D97-AF65-F5344CB8AC3E}">
        <p14:creationId xmlns:p14="http://schemas.microsoft.com/office/powerpoint/2010/main" val="1133762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  研究概覽">
            <a:extLst xmlns:a="http://schemas.openxmlformats.org/drawingml/2006/main">
              <a:ext uri="{FF2B5EF4-FFF2-40B4-BE49-F238E27FC236}">
                <a16:creationId xmlns:a16="http://schemas.microsoft.com/office/drawing/2014/main" id="{036C9304-B1B9-4D99-9E4C-B80E164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01  研究概覽</a:t>
            </a:r>
          </a:p>
        </p:txBody>
      </p:sp>
      <p:sp>
        <p:nvSpPr>
          <p:cNvPr id="2" name="研究摘要">
            <a:extLst xmlns:a="http://schemas.openxmlformats.org/drawingml/2006/main">
              <a:ext uri="{FF2B5EF4-FFF2-40B4-BE49-F238E27FC236}">
                <a16:creationId xmlns:a16="http://schemas.microsoft.com/office/drawing/2014/main" id="{2B56AD19-BAE3-4EC4-A3F1-9471987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研究摘要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AA077-75A5-4DBA-9DA6-DC0B2E5A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37E4D524-BA42-427B-9B0D-58E7DBF2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FCFF81C2-1436-4BB3-9567-D079B59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7F372-E877-4FE0-911C-EE1D3E168CA9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46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173480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A–F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研究故事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8080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A 動機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高齡化與骨骼健康管理需求增加，DXA 數值難以直接轉化為日常行動。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80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B 挑戰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ML 缺乏衛教互動，通用 LLM 缺少數值工具與領域安全約束。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8080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C 方案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OsteoGuard 串接多部位 DXA 分析、SHAP 解釋與醫療知識檢索。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80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D 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NHANES 資料、LR／RF／XGBoost、LangChain Agent、RAG 與 Streamlit。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8080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E 驗證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交叉驗證比較模型，另以情境案例評估引用品質、規則一致性與安全性。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80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F 預期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完成可解釋風險報告、健康建議與多輪問答原型。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733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2  Introduction">
            <a:extLst xmlns:a="http://schemas.openxmlformats.org/drawingml/2006/main">
              <a:ext uri="{FF2B5EF4-FFF2-40B4-BE49-F238E27FC236}">
                <a16:creationId xmlns:a16="http://schemas.microsoft.com/office/drawing/2014/main" id="{2D25B514-35BD-414F-9903-824BBA50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02  Introduction</a:t>
            </a:r>
          </a:p>
        </p:txBody>
      </p:sp>
      <p:sp>
        <p:nvSpPr>
          <p:cNvPr id="2" name="研究動機：高齡化下的骨骼健康管理">
            <a:extLst xmlns:a="http://schemas.openxmlformats.org/drawingml/2006/main">
              <a:ext uri="{FF2B5EF4-FFF2-40B4-BE49-F238E27FC236}">
                <a16:creationId xmlns:a16="http://schemas.microsoft.com/office/drawing/2014/main" id="{F9DFE673-056F-460D-BE21-EA7DFC7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研究動機：高齡化下的骨骼健康管理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CF1C2-8C7F-4438-AA69-0D39FA90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C9A0E163-E338-46FF-9D46-C97F9172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C4503548-78B0-46CD-8160-8BB9D0EB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6" name="20.06%">
            <a:extLst xmlns:a="http://schemas.openxmlformats.org/drawingml/2006/main">
              <a:ext uri="{FF2B5EF4-FFF2-40B4-BE49-F238E27FC236}">
                <a16:creationId xmlns:a16="http://schemas.microsoft.com/office/drawing/2014/main" id="{DE438D2D-0A02-4FD9-A7F4-73DA51E7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8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81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20.06%</a:t>
            </a:r>
          </a:p>
        </p:txBody>
      </p:sp>
      <p:sp>
        <p:nvSpPr>
          <p:cNvPr id="7" name="台灣 65 歲以上人口占比">
            <a:extLst xmlns:a="http://schemas.openxmlformats.org/drawingml/2006/main">
              <a:ext uri="{FF2B5EF4-FFF2-40B4-BE49-F238E27FC236}">
                <a16:creationId xmlns:a16="http://schemas.microsoft.com/office/drawing/2014/main" id="{256BE2DE-BF89-4E56-A6C4-A5EE0152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528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台灣 65 歲以上人口占比</a:t>
            </a:r>
          </a:p>
        </p:txBody>
      </p:sp>
      <p:sp>
        <p:nvSpPr>
          <p:cNvPr id="8" name="衛福部於 2026 年論壇公布的數字&#10;顯示台灣已進入超高齡社會。">
            <a:extLst xmlns:a="http://schemas.openxmlformats.org/drawingml/2006/main">
              <a:ext uri="{FF2B5EF4-FFF2-40B4-BE49-F238E27FC236}">
                <a16:creationId xmlns:a16="http://schemas.microsoft.com/office/drawing/2014/main" id="{2CBE366E-D382-404D-B285-DA65367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76775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衛福部於 2026 年論壇公布的數字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顯示台灣已進入超高齡社會。</a:t>
            </a:r>
          </a:p>
        </p:txBody>
      </p:sp>
      <p:sp>
        <p:nvSpPr>
          <p:cNvPr id="9" name="DXA 檢測之後的照護需求">
            <a:extLst xmlns:a="http://schemas.openxmlformats.org/drawingml/2006/main">
              <a:ext uri="{FF2B5EF4-FFF2-40B4-BE49-F238E27FC236}">
                <a16:creationId xmlns:a16="http://schemas.microsoft.com/office/drawing/2014/main" id="{CF85748B-EC5C-483D-9927-B62D9B8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77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DXA 檢測之後的照護需求</a:t>
            </a:r>
          </a:p>
        </p:txBody>
      </p:sp>
      <p:sp>
        <p:nvSpPr>
          <p:cNvPr id="10" name="骨質流失往往缺少明顯症狀。&#10;&#10;民眾需要理解報告與追蹤重點，&#10;並取得符合自身情境的生活建議。">
            <a:extLst xmlns:a="http://schemas.openxmlformats.org/drawingml/2006/main">
              <a:ext uri="{FF2B5EF4-FFF2-40B4-BE49-F238E27FC236}">
                <a16:creationId xmlns:a16="http://schemas.microsoft.com/office/drawing/2014/main" id="{62B7BB00-EB26-4F45-BB38-5D6D0F5B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81375"/>
            <a:ext cx="6286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骨質流失往往缺少明顯症狀。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民眾需要理解報告與追蹤重點，</a:t>
            </a:r>
          </a:p>
          <a:p xmlns:a="http://schemas.openxmlformats.org/drawingml/2006/main">
            <a: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並取得符合自身情境的生活建議。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社區醫護需要可快速查核的衛教輔助。</a:t>
            </a:r>
          </a:p>
        </p:txBody>
      </p:sp>
      <p:sp>
        <p:nvSpPr>
          <p:cNvPr id="11" name="來源：[10] 衛福部，2026；[2] Kanis et al., 2019">
            <a:extLst xmlns:a="http://schemas.openxmlformats.org/drawingml/2006/main">
              <a:ext uri="{FF2B5EF4-FFF2-40B4-BE49-F238E27FC236}">
                <a16:creationId xmlns:a16="http://schemas.microsoft.com/office/drawing/2014/main" id="{61B0D095-2C66-4D90-8B6E-D2239C30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77125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來源：[10] 衛福部，2026；[2] Kanis et al., 2019</a:t>
            </a:r>
          </a:p>
        </p:txBody>
      </p:sp>
    </p:spTree>
    <p:extLst>
      <p:ext uri="{BB962C8B-B14F-4D97-AF65-F5344CB8AC3E}">
        <p14:creationId xmlns:p14="http://schemas.microsoft.com/office/powerpoint/2010/main" val="520338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2  Introduction">
            <a:extLst xmlns:a="http://schemas.openxmlformats.org/drawingml/2006/main">
              <a:ext uri="{FF2B5EF4-FFF2-40B4-BE49-F238E27FC236}">
                <a16:creationId xmlns:a16="http://schemas.microsoft.com/office/drawing/2014/main" id="{CE718A3B-3464-4601-8AEB-0135BE3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02  Introduction</a:t>
            </a:r>
          </a:p>
        </p:txBody>
      </p:sp>
      <p:sp>
        <p:nvSpPr>
          <p:cNvPr id="2" name="目標使用者與真實應用情境">
            <a:extLst xmlns:a="http://schemas.openxmlformats.org/drawingml/2006/main">
              <a:ext uri="{FF2B5EF4-FFF2-40B4-BE49-F238E27FC236}">
                <a16:creationId xmlns:a16="http://schemas.microsoft.com/office/drawing/2014/main" id="{01A84753-320C-4F23-AC9D-915C9274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目標使用者與真實應用情境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4765B-8AC9-4315-B45E-378FAE1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C83520AB-841A-48BC-8237-F3C2220C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82C1E4EE-B3D9-4980-A234-ACEFAA36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6" name="一般民眾與家屬">
            <a:extLst xmlns:a="http://schemas.openxmlformats.org/drawingml/2006/main">
              <a:ext uri="{FF2B5EF4-FFF2-40B4-BE49-F238E27FC236}">
                <a16:creationId xmlns:a16="http://schemas.microsoft.com/office/drawing/2014/main" id="{F91035A0-5E91-454E-B73B-9C9C522B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一般民眾與家屬</a:t>
            </a:r>
          </a:p>
        </p:txBody>
      </p:sp>
      <p:sp>
        <p:nvSpPr>
          <p:cNvPr id="7" name="取得健檢 DXA 報告後，&#10;想知道哪些數值值得注意。&#10;&#10;期望理解風險、追蹤重點，&#10;並詢問飲">
            <a:extLst xmlns:a="http://schemas.openxmlformats.org/drawingml/2006/main">
              <a:ext uri="{FF2B5EF4-FFF2-40B4-BE49-F238E27FC236}">
                <a16:creationId xmlns:a16="http://schemas.microsoft.com/office/drawing/2014/main" id="{CD961E36-5225-4E60-8D41-AE91F8BC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取得健檢 DXA 報告後，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想知道哪些數值值得注意。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期望理解風險、追蹤重點，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並詢問飲食與活動選擇。</a:t>
            </a:r>
          </a:p>
        </p:txBody>
      </p:sp>
      <p:sp>
        <p:nvSpPr>
          <p:cNvPr id="8" name="社區醫護與個管師">
            <a:extLst xmlns:a="http://schemas.openxmlformats.org/drawingml/2006/main">
              <a:ext uri="{FF2B5EF4-FFF2-40B4-BE49-F238E27FC236}">
                <a16:creationId xmlns:a16="http://schemas.microsoft.com/office/drawing/2014/main" id="{A9972711-2505-4656-A5A0-4BBB697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社區醫護與個管師</a:t>
            </a:r>
          </a:p>
        </p:txBody>
      </p:sp>
      <p:sp>
        <p:nvSpPr>
          <p:cNvPr id="9" name="篩檢或門診衛教時，&#10;需要整合多部位骨密度資料。&#10;&#10;期望快速產生結構化報告，&#10;確認高風險個案">
            <a:extLst xmlns:a="http://schemas.openxmlformats.org/drawingml/2006/main">
              <a:ext uri="{FF2B5EF4-FFF2-40B4-BE49-F238E27FC236}">
                <a16:creationId xmlns:a16="http://schemas.microsoft.com/office/drawing/2014/main" id="{2F629C96-23E5-4066-B4ED-78E35034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篩檢或門診衛教時，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需要整合多部位骨密度資料。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期望快速產生結構化報告，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確認高風險個案的轉介需求。</a:t>
            </a:r>
          </a:p>
        </p:txBody>
      </p:sp>
      <p:sp>
        <p:nvSpPr>
          <p:cNvPr id="10" name="輸入：DXA 數值與問題　　輸出：風險解讀、證據、生活建議與轉介提示">
            <a:extLst xmlns:a="http://schemas.openxmlformats.org/drawingml/2006/main">
              <a:ext uri="{FF2B5EF4-FFF2-40B4-BE49-F238E27FC236}">
                <a16:creationId xmlns:a16="http://schemas.microsoft.com/office/drawing/2014/main" id="{AB6EC7A8-9487-439B-9E94-2BB83BD9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24700"/>
            <a:ext cx="1363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輸入：DXA 數值與問題　　輸出：風險解讀、證據、生活建議與轉介提示</a:t>
            </a:r>
          </a:p>
        </p:txBody>
      </p:sp>
    </p:spTree>
    <p:extLst>
      <p:ext uri="{BB962C8B-B14F-4D97-AF65-F5344CB8AC3E}">
        <p14:creationId xmlns:p14="http://schemas.microsoft.com/office/powerpoint/2010/main" val="1075610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2  Introduction">
            <a:extLst xmlns:a="http://schemas.openxmlformats.org/drawingml/2006/main">
              <a:ext uri="{FF2B5EF4-FFF2-40B4-BE49-F238E27FC236}">
                <a16:creationId xmlns:a16="http://schemas.microsoft.com/office/drawing/2014/main" id="{A2FBBBBC-D0CD-4441-AC72-52ED1E08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02  Introduction</a:t>
            </a:r>
          </a:p>
        </p:txBody>
      </p:sp>
      <p:sp>
        <p:nvSpPr>
          <p:cNvPr id="2" name="核心問題與預期研究貢獻">
            <a:extLst xmlns:a="http://schemas.openxmlformats.org/drawingml/2006/main">
              <a:ext uri="{FF2B5EF4-FFF2-40B4-BE49-F238E27FC236}">
                <a16:creationId xmlns:a16="http://schemas.microsoft.com/office/drawing/2014/main" id="{2C20942F-6C1D-467D-A261-481E177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核心問題與預期研究貢獻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55E5F-9935-4532-B180-F6ECE96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510C25F7-2306-4875-8CC7-E80716D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E8FEA53D-02CB-4AFF-BFA5-AE38AF35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20639-2DDB-4C00-9F4A-8A570D771BE6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74485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待解決問題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本研究的對應設計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多部位 BMD／BMC／Area 難以整合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清理 NHANES 資料，建立多部位特徵與模型比較基準。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分類標籤難以解釋個別預測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以 SHAP 呈現影響因子，再由 Agent 產生白話解讀。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衛教缺乏情境配適與安全查核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將臨床知識、RAG 與確定性規則納入生成流程。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使用者的問題會隨報告解讀改變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保留經驗證的數值與對話狀態，支援多輪追問。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7" name="預期貢獻：資料分析基準、可解釋模型，以及可端到端驗證的領域代理人">
            <a:extLst xmlns:a="http://schemas.openxmlformats.org/drawingml/2006/main">
              <a:ext uri="{FF2B5EF4-FFF2-40B4-BE49-F238E27FC236}">
                <a16:creationId xmlns:a16="http://schemas.microsoft.com/office/drawing/2014/main" id="{A6D2EB7D-F80D-4FCF-B97E-6A459C28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預期貢獻：資料分析基準、可解釋模型，以及可端到端驗證的領域代理人</a:t>
            </a:r>
          </a:p>
        </p:txBody>
      </p:sp>
    </p:spTree>
    <p:extLst>
      <p:ext uri="{BB962C8B-B14F-4D97-AF65-F5344CB8AC3E}">
        <p14:creationId xmlns:p14="http://schemas.microsoft.com/office/powerpoint/2010/main" val="316439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3  領域基礎">
            <a:extLst xmlns:a="http://schemas.openxmlformats.org/drawingml/2006/main">
              <a:ext uri="{FF2B5EF4-FFF2-40B4-BE49-F238E27FC236}">
                <a16:creationId xmlns:a16="http://schemas.microsoft.com/office/drawing/2014/main" id="{DF5625C7-7C50-4CAD-A330-199E2056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03  領域基礎</a:t>
            </a:r>
          </a:p>
        </p:txBody>
      </p:sp>
      <p:sp>
        <p:nvSpPr>
          <p:cNvPr id="2" name="Domain Know-how：DXA 指標與臨床分級">
            <a:extLst xmlns:a="http://schemas.openxmlformats.org/drawingml/2006/main">
              <a:ext uri="{FF2B5EF4-FFF2-40B4-BE49-F238E27FC236}">
                <a16:creationId xmlns:a16="http://schemas.microsoft.com/office/drawing/2014/main" id="{2D1016D5-9CE8-4259-9D49-D7541AB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Domain Know-how：DXA 指標與臨床分級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0C05-6888-4987-BD88-EA5B4554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E3B58F3C-7905-4B55-A515-76DD8A4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A2D68EC3-7AFB-4CD7-8963-2A22C94A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6" name="BMD = BMC / Bone Area">
            <a:extLst xmlns:a="http://schemas.openxmlformats.org/drawingml/2006/main">
              <a:ext uri="{FF2B5EF4-FFF2-40B4-BE49-F238E27FC236}">
                <a16:creationId xmlns:a16="http://schemas.microsoft.com/office/drawing/2014/main" id="{F66473E9-F389-4EFA-B2EC-FF3035F4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363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BMD = BMC / Bone Area</a:t>
            </a:r>
          </a:p>
        </p:txBody>
      </p:sp>
      <p:sp>
        <p:nvSpPr>
          <p:cNvPr id="7" name="BMD：g/cm²　　BMC：g　　Bone Area：cm²&#10;四區特徵：Total Fe">
            <a:extLst xmlns:a="http://schemas.openxmlformats.org/drawingml/2006/main">
              <a:ext uri="{FF2B5EF4-FFF2-40B4-BE49-F238E27FC236}">
                <a16:creationId xmlns:a16="http://schemas.microsoft.com/office/drawing/2014/main" id="{C6F501B3-35EE-4A55-8A10-ADC3354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3639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BMD：g/cm²　　BMC：g　　Bone Area：cm²</a:t>
            </a:r>
          </a:p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四區特徵：Total Femur、Femoral Neck、Trochanter、Intertrochanter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9D574-8FB1-4B5B-BCC9-CCB6980A86DE}"/>
              </a:ext>
            </a:extLst>
          </p:cNvPr>
          <p:cNvGraphicFramePr/>
          <p:nvPr/>
        </p:nvGraphicFramePr>
        <p:xfrm>
          <a:off xmlns:a="http://schemas.openxmlformats.org/drawingml/2006/main" x="800100" y="4381500"/>
          <a:ext xmlns:a="http://schemas.openxmlformats.org/drawingml/2006/main" cx="136398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887730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T-score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骨密度分類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6032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T ≥ −1.0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正常骨密度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−2.5 &lt; T &lt; −1.0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低骨量／骨量減少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6032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T ≤ −2.5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符合骨質疏鬆的骨密度標準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適用性：停經後女性與 ≥50 歲男性。髖部取股骨頸／全髖部較低的有效 T-score。&#10;常">
            <a:extLst xmlns:a="http://schemas.openxmlformats.org/drawingml/2006/main">
              <a:ext uri="{FF2B5EF4-FFF2-40B4-BE49-F238E27FC236}">
                <a16:creationId xmlns:a16="http://schemas.microsoft.com/office/drawing/2014/main" id="{1F681E49-0C69-4088-A837-2F402C3D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05650"/>
            <a:ext cx="1363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適用性：停經後女性與 ≥50 歲男性。髖部取股骨頸／全髖部較低的有效 T-score。</a:t>
            </a:r>
          </a:p>
          <a:p xmlns:a="http://schemas.openxmlformats.org/drawingml/2006/main">
            <a: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常模與掃描有效性須先確認，轉子區不能直接作為診斷部位。</a:t>
            </a:r>
          </a:p>
        </p:txBody>
      </p:sp>
    </p:spTree>
    <p:extLst>
      <p:ext uri="{BB962C8B-B14F-4D97-AF65-F5344CB8AC3E}">
        <p14:creationId xmlns:p14="http://schemas.microsoft.com/office/powerpoint/2010/main" val="1814472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4  Dataset">
            <a:extLst xmlns:a="http://schemas.openxmlformats.org/drawingml/2006/main">
              <a:ext uri="{FF2B5EF4-FFF2-40B4-BE49-F238E27FC236}">
                <a16:creationId xmlns:a16="http://schemas.microsoft.com/office/drawing/2014/main" id="{BB194A0C-2183-41C2-9271-9822FE7E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04  Dataset</a:t>
            </a:r>
          </a:p>
        </p:txBody>
      </p:sp>
      <p:sp>
        <p:nvSpPr>
          <p:cNvPr id="2" name="NHANES 資料來源與樣本篩選">
            <a:extLst xmlns:a="http://schemas.openxmlformats.org/drawingml/2006/main">
              <a:ext uri="{FF2B5EF4-FFF2-40B4-BE49-F238E27FC236}">
                <a16:creationId xmlns:a16="http://schemas.microsoft.com/office/drawing/2014/main" id="{6955B665-71EE-46E2-8199-697D94D4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NHANES 資料來源與樣本篩選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55603-02EE-4B81-A797-32D163F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CDA7FE6B-7625-4C8B-B7A4-B4AD31D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219414B5-E2AB-429F-B840-78924ED4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6" name="P_DXXFEM">
            <a:extLst xmlns:a="http://schemas.openxmlformats.org/drawingml/2006/main">
              <a:ext uri="{FF2B5EF4-FFF2-40B4-BE49-F238E27FC236}">
                <a16:creationId xmlns:a16="http://schemas.microsoft.com/office/drawing/2014/main" id="{29F448D2-F473-4F68-BE2B-DCCBAA8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3639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337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P_DXXFEM</a:t>
            </a:r>
          </a:p>
        </p:txBody>
      </p:sp>
      <p:sp>
        <p:nvSpPr>
          <p:cNvPr id="7" name="NHANES 2017–March 2020 Pre-pandemic，涵蓋 50 歲以上">
            <a:extLst xmlns:a="http://schemas.openxmlformats.org/drawingml/2006/main">
              <a:ext uri="{FF2B5EF4-FFF2-40B4-BE49-F238E27FC236}">
                <a16:creationId xmlns:a16="http://schemas.microsoft.com/office/drawing/2014/main" id="{C3010010-FFBC-4413-B629-4DFBF20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3639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NHANES 2017–March 2020 Pre-pandemic，涵蓋 50 歲以上受試者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ACF8-62EC-41CA-A681-D0BEAE72F1AB}"/>
              </a:ext>
            </a:extLst>
          </p:cNvPr>
          <p:cNvGraphicFramePr/>
          <p:nvPr/>
        </p:nvGraphicFramePr>
        <p:xfrm>
          <a:off xmlns:a="http://schemas.openxmlformats.org/drawingml/2006/main" x="800100" y="3857625"/>
          <a:ext xmlns:a="http://schemas.openxmlformats.org/drawingml/2006/main" cx="13639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0"/>
                <a:gridCol w="240030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官方掃描狀態 DXAFMRST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人數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1　完成且全部有效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3,545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　完成但全部無效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339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4　未掃描：體重超過設備限制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5　未掃描：其他原因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706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總紀錄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4,593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3,545 為官方有效掃描紀錄數，最終建模樣本仍須檢查欄位缺失與族群適用性。&#10;若報告人口盛">
            <a:extLst xmlns:a="http://schemas.openxmlformats.org/drawingml/2006/main">
              <a:ext uri="{FF2B5EF4-FFF2-40B4-BE49-F238E27FC236}">
                <a16:creationId xmlns:a16="http://schemas.microsoft.com/office/drawing/2014/main" id="{EC86DA6E-51C0-4786-BAE9-65D6BE4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96150"/>
            <a:ext cx="13639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3,545 為官方有效掃描紀錄數，最終建模樣本仍須檢查欄位缺失與族群適用性。</a:t>
            </a:r>
          </a:p>
          <a:p xmlns:a="http://schemas.openxmlformats.org/drawingml/2006/main">
            <a: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若報告人口盛行率，需依 NHANES 複雜抽樣設計與權重進行估計。</a:t>
            </a:r>
          </a:p>
        </p:txBody>
      </p:sp>
    </p:spTree>
    <p:extLst>
      <p:ext uri="{BB962C8B-B14F-4D97-AF65-F5344CB8AC3E}">
        <p14:creationId xmlns:p14="http://schemas.microsoft.com/office/powerpoint/2010/main" val="220884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5  Related Work">
            <a:extLst xmlns:a="http://schemas.openxmlformats.org/drawingml/2006/main">
              <a:ext uri="{FF2B5EF4-FFF2-40B4-BE49-F238E27FC236}">
                <a16:creationId xmlns:a16="http://schemas.microsoft.com/office/drawing/2014/main" id="{28A075E2-2122-4612-95AF-5786E022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05  Related Work</a:t>
            </a:r>
          </a:p>
        </p:txBody>
      </p:sp>
      <p:sp>
        <p:nvSpPr>
          <p:cNvPr id="2" name="文獻彙整：AI Technology">
            <a:extLst xmlns:a="http://schemas.openxmlformats.org/drawingml/2006/main">
              <a:ext uri="{FF2B5EF4-FFF2-40B4-BE49-F238E27FC236}">
                <a16:creationId xmlns:a16="http://schemas.microsoft.com/office/drawing/2014/main" id="{CF1BA4E3-3968-4390-B16A-DFA392EC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文獻彙整：AI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A8BE8-1FBB-4862-9A1E-509C310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725D84C8-337C-4CAB-A927-811C29C6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ACB98992-3DB0-45A5-8F64-6D67881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35B31-25F5-4F0F-8FBC-3D080C878BCA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27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714500"/>
                <a:gridCol w="1809750"/>
                <a:gridCol w="1809750"/>
                <a:gridCol w="2095500"/>
                <a:gridCol w="2238375"/>
                <a:gridCol w="2162175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Ref.／Year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AI Method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Domain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Knowledge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Dataset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Findings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[5] Chen &amp;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Guestrin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大規模監督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學習效率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XGBoost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通用表格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預測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Higgs、Yahoo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等基準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提出可擴充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樹提升系統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未驗證本專題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骨鬆任務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[4] Lundberg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&amp; Lee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2017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個別預測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難以理解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SHAP 特徵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歸因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模型輸出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解釋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模擬與模型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解釋實驗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統一加法式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特徵歸因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歸因不等同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因果或診斷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[8] Lewis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et al.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生成缺少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外部知識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RAG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知識密集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問答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開放領域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NLP 任務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結合檢索與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生成模型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醫療忠實度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仍需另行評估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[9] Yao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et al.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2023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推理與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外部動作脫節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ReAct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工具互動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外部知識與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環境觀察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HotpotQA、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ALFWorld 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交錯推理與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工具行動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非 DXA 臨床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安全驗證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7" name="本研究採用：模型比較、SHAP、知識檢索與工具調度，並另外驗證領域適用性">
            <a:extLst xmlns:a="http://schemas.openxmlformats.org/drawingml/2006/main">
              <a:ext uri="{FF2B5EF4-FFF2-40B4-BE49-F238E27FC236}">
                <a16:creationId xmlns:a16="http://schemas.microsoft.com/office/drawing/2014/main" id="{80339A95-8BF1-4C16-A16B-18AA823C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676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本研究採用：模型比較、SHAP、知識檢索與工具調度，並另外驗證領域適用性</a:t>
            </a:r>
          </a:p>
        </p:txBody>
      </p:sp>
    </p:spTree>
    <p:extLst>
      <p:ext uri="{BB962C8B-B14F-4D97-AF65-F5344CB8AC3E}">
        <p14:creationId xmlns:p14="http://schemas.microsoft.com/office/powerpoint/2010/main" val="193613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5  Related Work">
            <a:extLst xmlns:a="http://schemas.openxmlformats.org/drawingml/2006/main">
              <a:ext uri="{FF2B5EF4-FFF2-40B4-BE49-F238E27FC236}">
                <a16:creationId xmlns:a16="http://schemas.microsoft.com/office/drawing/2014/main" id="{4C4F7BB2-FBE1-4CE8-AAF2-F8ED7589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05  Related Work</a:t>
            </a:r>
          </a:p>
        </p:txBody>
      </p:sp>
      <p:sp>
        <p:nvSpPr>
          <p:cNvPr id="2" name="文獻彙整：Domain Know-how">
            <a:extLst xmlns:a="http://schemas.openxmlformats.org/drawingml/2006/main">
              <a:ext uri="{FF2B5EF4-FFF2-40B4-BE49-F238E27FC236}">
                <a16:creationId xmlns:a16="http://schemas.microsoft.com/office/drawing/2014/main" id="{9ED407D8-F0BE-4098-8A66-111A764F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文獻彙整：Domain Know-how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BF215-2B32-482F-86E7-E079D96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287B9DAE-17AA-48FB-896B-20111B7E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2D151703-76F2-4E02-BC1A-DEAA268A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F0840-6570-4BEC-B32C-ACC36FE1A510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27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714500"/>
                <a:gridCol w="1809750"/>
                <a:gridCol w="1809750"/>
                <a:gridCol w="2095500"/>
                <a:gridCol w="2238375"/>
                <a:gridCol w="2162175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Ref.／Year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AI Method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Domain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Knowledge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Dataset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Findings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[1] CDC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骨密度量測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與調查品質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無，DXA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與統計調查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掃描品質與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變項定義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NHANES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P_DXXFEM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提供股骨各區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公開量測資料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未提供個別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衛教代理人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[2] Kanis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et al.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2019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停經後骨鬆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評估與管理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臨床決策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規則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BMD、骨折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危險因子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既有臨床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證據彙整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整合評估與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治療指引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需檢查族群與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地區適用性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[3] LeBoff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et al.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骨鬆預防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與臨床照護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無，臨床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指引彙整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營養、骨密度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與治療評估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臨床研究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與指引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提出整體照護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與管理建議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非個別 Agent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效果研究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4431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[6] Brooke-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Wavell et al.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2022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骨鬆族群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安全運動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系統回顧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與專家共識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肌力、平衡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與姿勢訓練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骨鬆運動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介入研究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依骨折與活動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能力調整運動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部分族群證據</a:t>
                      </a:r>
                    </a:p>
                    <a:p>
                      <a:r>
                        <a:rPr sz="17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較少，需個評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7" name="臨床判讀補充：[7] ISCD 2023；營養攝取與適用族群補充：[11] NIAMS">
            <a:extLst xmlns:a="http://schemas.openxmlformats.org/drawingml/2006/main">
              <a:ext uri="{FF2B5EF4-FFF2-40B4-BE49-F238E27FC236}">
                <a16:creationId xmlns:a16="http://schemas.microsoft.com/office/drawing/2014/main" id="{E84E39A6-CD68-4253-B5D7-7E63B02E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676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臨床判讀補充：[7] ISCD 2023；營養攝取與適用族群補充：[11] NIAMS</a:t>
            </a:r>
          </a:p>
        </p:txBody>
      </p:sp>
    </p:spTree>
    <p:extLst>
      <p:ext uri="{BB962C8B-B14F-4D97-AF65-F5344CB8AC3E}">
        <p14:creationId xmlns:p14="http://schemas.microsoft.com/office/powerpoint/2010/main" val="920087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6  Research Gap">
            <a:extLst xmlns:a="http://schemas.openxmlformats.org/drawingml/2006/main">
              <a:ext uri="{FF2B5EF4-FFF2-40B4-BE49-F238E27FC236}">
                <a16:creationId xmlns:a16="http://schemas.microsoft.com/office/drawing/2014/main" id="{F089C25E-961F-4DC3-8131-5DA9058E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06  Research Gap</a:t>
            </a:r>
          </a:p>
        </p:txBody>
      </p:sp>
      <p:sp>
        <p:nvSpPr>
          <p:cNvPr id="2" name="Research Gap 與研究問題">
            <a:extLst xmlns:a="http://schemas.openxmlformats.org/drawingml/2006/main">
              <a:ext uri="{FF2B5EF4-FFF2-40B4-BE49-F238E27FC236}">
                <a16:creationId xmlns:a16="http://schemas.microsoft.com/office/drawing/2014/main" id="{E7870628-1172-4DFB-A918-1FE5FCF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Research Gap 與研究問題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4F294-8F10-43D1-86B4-D1EE8C5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2A41C1A4-6981-4E6B-A010-BC594A7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FA608E6A-30E8-446E-9733-3980B708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6" name="Existing Research">
            <a:extLst xmlns:a="http://schemas.openxmlformats.org/drawingml/2006/main">
              <a:ext uri="{FF2B5EF4-FFF2-40B4-BE49-F238E27FC236}">
                <a16:creationId xmlns:a16="http://schemas.microsoft.com/office/drawing/2014/main" id="{EFBC8FA5-DB71-45C5-ACB4-8F52099B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Existing Research</a:t>
            </a:r>
          </a:p>
        </p:txBody>
      </p:sp>
      <p:sp>
        <p:nvSpPr>
          <p:cNvPr id="7" name="DXA 與臨床指引提供評估基礎，ML、SHAP、RAG 與 Agent 提供各自的技術能力">
            <a:extLst xmlns:a="http://schemas.openxmlformats.org/drawingml/2006/main">
              <a:ext uri="{FF2B5EF4-FFF2-40B4-BE49-F238E27FC236}">
                <a16:creationId xmlns:a16="http://schemas.microsoft.com/office/drawing/2014/main" id="{AF908068-3C6B-46E7-AFEB-011B596B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DXA 與臨床指引提供評估基礎，ML、SHAP、RAG 與 Agent 提供各自的技術能力。</a:t>
            </a:r>
          </a:p>
        </p:txBody>
      </p:sp>
      <p:sp>
        <p:nvSpPr>
          <p:cNvPr id="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5E589424-4658-4223-82F2-178920CA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Limitations</a:t>
            </a:r>
          </a:p>
        </p:txBody>
      </p:sp>
      <p:sp>
        <p:nvSpPr>
          <p:cNvPr id="9" name="單獨模型缺乏衛教互動，單獨聊天系統缺乏可追溯的數值分析與安全查核。">
            <a:extLst xmlns:a="http://schemas.openxmlformats.org/drawingml/2006/main">
              <a:ext uri="{FF2B5EF4-FFF2-40B4-BE49-F238E27FC236}">
                <a16:creationId xmlns:a16="http://schemas.microsoft.com/office/drawing/2014/main" id="{44A1B927-A8CB-4D3D-8875-2FCF32B7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單獨模型缺乏衛教互動，單獨聊天系統缺乏可追溯的數值分析與安全查核。</a:t>
            </a:r>
          </a:p>
        </p:txBody>
      </p:sp>
      <p:sp>
        <p:nvSpPr>
          <p:cNvPr id="10" name="Research Gap">
            <a:extLst xmlns:a="http://schemas.openxmlformats.org/drawingml/2006/main">
              <a:ext uri="{FF2B5EF4-FFF2-40B4-BE49-F238E27FC236}">
                <a16:creationId xmlns:a16="http://schemas.microsoft.com/office/drawing/2014/main" id="{39A5C349-6497-4358-BE73-347E0556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Research Gap</a:t>
            </a:r>
          </a:p>
        </p:txBody>
      </p:sp>
      <p:sp>
        <p:nvSpPr>
          <p:cNvPr id="11" name="本研究聚焦多部位 DXA、模型解釋與指引約束如何形成可驗證的完整工作流。">
            <a:extLst xmlns:a="http://schemas.openxmlformats.org/drawingml/2006/main">
              <a:ext uri="{FF2B5EF4-FFF2-40B4-BE49-F238E27FC236}">
                <a16:creationId xmlns:a16="http://schemas.microsoft.com/office/drawing/2014/main" id="{1C2A375B-F6C4-45CF-A6AD-FC7EA67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本研究聚焦多部位 DXA、模型解釋與指引約束如何形成可驗證的完整工作流。</a:t>
            </a:r>
          </a:p>
        </p:txBody>
      </p:sp>
      <p:sp>
        <p:nvSpPr>
          <p:cNvPr id="12" name="Our Project">
            <a:extLst xmlns:a="http://schemas.openxmlformats.org/drawingml/2006/main">
              <a:ext uri="{FF2B5EF4-FFF2-40B4-BE49-F238E27FC236}">
                <a16:creationId xmlns:a16="http://schemas.microsoft.com/office/drawing/2014/main" id="{F8E35C55-D20E-4EF5-9444-25A957D4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790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Our Project</a:t>
            </a:r>
          </a:p>
        </p:txBody>
      </p:sp>
      <p:sp>
        <p:nvSpPr>
          <p:cNvPr id="13" name="以 OsteoGuard 串接分析與健康管理，評估預測品質、證據忠實度與建議安全性。">
            <a:extLst xmlns:a="http://schemas.openxmlformats.org/drawingml/2006/main">
              <a:ext uri="{FF2B5EF4-FFF2-40B4-BE49-F238E27FC236}">
                <a16:creationId xmlns:a16="http://schemas.microsoft.com/office/drawing/2014/main" id="{DE333E94-94B9-4F1B-B1EE-879875B5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34150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以 OsteoGuard 串接分析與健康管理，評估預測品質、證據忠實度與建議安全性。</a:t>
            </a:r>
          </a:p>
        </p:txBody>
      </p:sp>
    </p:spTree>
    <p:extLst>
      <p:ext uri="{BB962C8B-B14F-4D97-AF65-F5344CB8AC3E}">
        <p14:creationId xmlns:p14="http://schemas.microsoft.com/office/powerpoint/2010/main" val="10066608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7  Deep Research">
            <a:extLst xmlns:a="http://schemas.openxmlformats.org/drawingml/2006/main">
              <a:ext uri="{FF2B5EF4-FFF2-40B4-BE49-F238E27FC236}">
                <a16:creationId xmlns:a16="http://schemas.microsoft.com/office/drawing/2014/main" id="{E8E956B7-F31D-4B2A-A9AE-6148AA7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07  Deep Research</a:t>
            </a:r>
          </a:p>
        </p:txBody>
      </p:sp>
      <p:sp>
        <p:nvSpPr>
          <p:cNvPr id="2" name="五個領域思維模式與設計影響">
            <a:extLst xmlns:a="http://schemas.openxmlformats.org/drawingml/2006/main">
              <a:ext uri="{FF2B5EF4-FFF2-40B4-BE49-F238E27FC236}">
                <a16:creationId xmlns:a16="http://schemas.microsoft.com/office/drawing/2014/main" id="{D63B74FE-1233-49F9-AF6F-8FB7BA28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五個領域思維模式與設計影響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ED337-F7B3-4DDA-858B-DA1C538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305E1635-3A47-4D7B-B187-EEDDE82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F55B254D-FA6B-4344-AFC3-7C4A7CF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C293F-A846-4E61-9107-B857B532226E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28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76390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領域思維模式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對系統設計的影響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9334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① 骨骼健康涉及密度與結構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納入 BMD／BMC／Area，並檢查共線性與冗餘。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② 診斷部位有特定臨床意義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有效的股骨頸／全髖部 T-score 分級，與多部位模型分開呈現。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9334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③ 營養與運動須配合個別需求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將飲食、肌力與平衡訓練一併納入衛教知識庫。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④ 運動建議須考慮安全邊界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先詢問骨折史、跌倒與活動能力，再設定強度限制。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9334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⑤ 風險溝通需要可理解的解釋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SHAP 歸因搭配原始數值，轉譯成白話並列出不確定性。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57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7  Deep Research">
            <a:extLst xmlns:a="http://schemas.openxmlformats.org/drawingml/2006/main">
              <a:ext uri="{FF2B5EF4-FFF2-40B4-BE49-F238E27FC236}">
                <a16:creationId xmlns:a16="http://schemas.microsoft.com/office/drawing/2014/main" id="{273F0BCC-12A1-4CC2-84DB-C7CD054B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07  Deep Research</a:t>
            </a:r>
          </a:p>
        </p:txBody>
      </p:sp>
      <p:sp>
        <p:nvSpPr>
          <p:cNvPr id="2" name="三個關鍵爭論與本研究的設計選擇">
            <a:extLst xmlns:a="http://schemas.openxmlformats.org/drawingml/2006/main">
              <a:ext uri="{FF2B5EF4-FFF2-40B4-BE49-F238E27FC236}">
                <a16:creationId xmlns:a16="http://schemas.microsoft.com/office/drawing/2014/main" id="{AEE49C70-F2EB-4D03-8D44-0DF78BDD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三個關鍵爭論與本研究的設計選擇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A7EAF-4517-4030-9B3B-877949E1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E11DD479-E987-47E9-B9B0-9B8E4A26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F954CD3D-BEE8-4A3B-B825-FD5BAF7F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8692A-F35A-486F-8B55-F6C140A4ACCB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14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953000"/>
                <a:gridCol w="5210175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爭論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證據與目前可採原則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本研究選擇與未解問題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508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BMD 閾值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vs. 多維度特徵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BMD 有標準化分級依據，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骨折風險另涉及臨床因子。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保留規則分級與模型分數。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多部位特徵增益須實驗確認。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08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LR 可解釋性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vs. 樹模型表現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LR 提供線性基準，SHAP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可解釋複雜模型的預測。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相同切分比較 LR／RF／XGB。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共線特徵的歸因穩定性待驗。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508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固定規則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vs. LLM 生成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指引提供安全限制，檢索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提供回答時的外部證據。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數值與禁忌由工具／規則處理。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LLM 的引用與忠實度另評估。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9277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7  Deep Research">
            <a:extLst xmlns:a="http://schemas.openxmlformats.org/drawingml/2006/main">
              <a:ext uri="{FF2B5EF4-FFF2-40B4-BE49-F238E27FC236}">
                <a16:creationId xmlns:a16="http://schemas.microsoft.com/office/drawing/2014/main" id="{3368301D-A71E-4712-9F68-27D17A52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07  Deep Research</a:t>
            </a:r>
          </a:p>
        </p:txBody>
      </p:sp>
      <p:sp>
        <p:nvSpPr>
          <p:cNvPr id="2" name="十個深度理解問題：資料與模型">
            <a:extLst xmlns:a="http://schemas.openxmlformats.org/drawingml/2006/main">
              <a:ext uri="{FF2B5EF4-FFF2-40B4-BE49-F238E27FC236}">
                <a16:creationId xmlns:a16="http://schemas.microsoft.com/office/drawing/2014/main" id="{01FD0F61-1A92-4936-8CC1-1EF0DC6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十個深度理解問題：資料與模型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214BA-B448-4640-8758-5F6D1DF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0A58C3B0-699C-437B-9BE7-78890F28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1F0BBC6E-0F54-4E82-A77F-654F809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6" name="01　Why">
            <a:extLst xmlns:a="http://schemas.openxmlformats.org/drawingml/2006/main">
              <a:ext uri="{FF2B5EF4-FFF2-40B4-BE49-F238E27FC236}">
                <a16:creationId xmlns:a16="http://schemas.microsoft.com/office/drawing/2014/main" id="{3817BF57-1659-4AD4-B339-2A1A257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01　Why</a:t>
            </a:r>
          </a:p>
        </p:txBody>
      </p:sp>
      <p:sp>
        <p:nvSpPr>
          <p:cNvPr id="7" name="為什麼需分開看股骨頸與全髖部，而不將四區 BMD 直接平均？">
            <a:extLst xmlns:a="http://schemas.openxmlformats.org/drawingml/2006/main">
              <a:ext uri="{FF2B5EF4-FFF2-40B4-BE49-F238E27FC236}">
                <a16:creationId xmlns:a16="http://schemas.microsoft.com/office/drawing/2014/main" id="{44402A73-A939-423B-A415-FD5F2EFB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為什麼需分開看股骨頸與全髖部，而不將四區 BMD 直接平均？</a:t>
            </a:r>
          </a:p>
        </p:txBody>
      </p:sp>
      <p:sp>
        <p:nvSpPr>
          <p:cNvPr id="8" name="02　What-if">
            <a:extLst xmlns:a="http://schemas.openxmlformats.org/drawingml/2006/main">
              <a:ext uri="{FF2B5EF4-FFF2-40B4-BE49-F238E27FC236}">
                <a16:creationId xmlns:a16="http://schemas.microsoft.com/office/drawing/2014/main" id="{E0FC1837-5389-4D0A-A088-F0A0AA8D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02　What-if</a:t>
            </a:r>
          </a:p>
        </p:txBody>
      </p:sp>
      <p:sp>
        <p:nvSpPr>
          <p:cNvPr id="9" name="兩人 BMD 相同，但 BMC 與面積不同，可能反映哪些體型與量測差異？">
            <a:extLst xmlns:a="http://schemas.openxmlformats.org/drawingml/2006/main">
              <a:ext uri="{FF2B5EF4-FFF2-40B4-BE49-F238E27FC236}">
                <a16:creationId xmlns:a16="http://schemas.microsoft.com/office/drawing/2014/main" id="{A412D1B5-27EF-477A-99E3-2522446F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兩人 BMD 相同，但 BMC 與面積不同，可能反映哪些體型與量測差異？</a:t>
            </a:r>
          </a:p>
        </p:txBody>
      </p:sp>
      <p:sp>
        <p:nvSpPr>
          <p:cNvPr id="10" name="03　Trade-off">
            <a:extLst xmlns:a="http://schemas.openxmlformats.org/drawingml/2006/main">
              <a:ext uri="{FF2B5EF4-FFF2-40B4-BE49-F238E27FC236}">
                <a16:creationId xmlns:a16="http://schemas.microsoft.com/office/drawing/2014/main" id="{D15969AB-808D-4B3D-B269-4AAD3EE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03　Trade-off</a:t>
            </a:r>
          </a:p>
        </p:txBody>
      </p:sp>
      <p:sp>
        <p:nvSpPr>
          <p:cNvPr id="11" name="篩檢模型提高 Recall 時，增加的誤報與轉介負擔如何衡量？">
            <a:extLst xmlns:a="http://schemas.openxmlformats.org/drawingml/2006/main">
              <a:ext uri="{FF2B5EF4-FFF2-40B4-BE49-F238E27FC236}">
                <a16:creationId xmlns:a16="http://schemas.microsoft.com/office/drawing/2014/main" id="{652AF204-E453-4771-9532-D1C4B12F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篩檢模型提高 Recall 時，增加的誤報與轉介負擔如何衡量？</a:t>
            </a:r>
          </a:p>
        </p:txBody>
      </p:sp>
      <p:sp>
        <p:nvSpPr>
          <p:cNvPr id="12" name="04　Failure Case">
            <a:extLst xmlns:a="http://schemas.openxmlformats.org/drawingml/2006/main">
              <a:ext uri="{FF2B5EF4-FFF2-40B4-BE49-F238E27FC236}">
                <a16:creationId xmlns:a16="http://schemas.microsoft.com/office/drawing/2014/main" id="{6B7B0ED7-269F-4864-A8E0-4F9D6F9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04　Failure Case</a:t>
            </a:r>
          </a:p>
        </p:txBody>
      </p:sp>
      <p:sp>
        <p:nvSpPr>
          <p:cNvPr id="13" name="金屬植入物、定位或掃描異常，會如何讓系統產生錯誤的安心解讀？">
            <a:extLst xmlns:a="http://schemas.openxmlformats.org/drawingml/2006/main">
              <a:ext uri="{FF2B5EF4-FFF2-40B4-BE49-F238E27FC236}">
                <a16:creationId xmlns:a16="http://schemas.microsoft.com/office/drawing/2014/main" id="{48BDB088-5C72-40CB-BBD5-E456FAFE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金屬植入物、定位或掃描異常，會如何讓系統產生錯誤的安心解讀？</a:t>
            </a:r>
          </a:p>
        </p:txBody>
      </p:sp>
      <p:sp>
        <p:nvSpPr>
          <p:cNvPr id="14" name="05　Comparison">
            <a:extLst xmlns:a="http://schemas.openxmlformats.org/drawingml/2006/main">
              <a:ext uri="{FF2B5EF4-FFF2-40B4-BE49-F238E27FC236}">
                <a16:creationId xmlns:a16="http://schemas.microsoft.com/office/drawing/2014/main" id="{D9DE2B75-FFE3-4F45-B49C-476E6D4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05　Comparison</a:t>
            </a:r>
          </a:p>
        </p:txBody>
      </p:sp>
      <p:sp>
        <p:nvSpPr>
          <p:cNvPr id="15" name="若 XGBoost 表現較高，仍需保留 LR／RF 的對照理由是什麼？">
            <a:extLst xmlns:a="http://schemas.openxmlformats.org/drawingml/2006/main">
              <a:ext uri="{FF2B5EF4-FFF2-40B4-BE49-F238E27FC236}">
                <a16:creationId xmlns:a16="http://schemas.microsoft.com/office/drawing/2014/main" id="{6D207AB4-BE1A-419F-ACD2-E688907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6277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若 XGBoost 表現較高，仍需保留 LR／RF 的對照理由是什麼？</a:t>
            </a:r>
          </a:p>
        </p:txBody>
      </p:sp>
    </p:spTree>
    <p:extLst>
      <p:ext uri="{BB962C8B-B14F-4D97-AF65-F5344CB8AC3E}">
        <p14:creationId xmlns:p14="http://schemas.microsoft.com/office/powerpoint/2010/main" val="17931146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7  Deep Research">
            <a:extLst xmlns:a="http://schemas.openxmlformats.org/drawingml/2006/main">
              <a:ext uri="{FF2B5EF4-FFF2-40B4-BE49-F238E27FC236}">
                <a16:creationId xmlns:a16="http://schemas.microsoft.com/office/drawing/2014/main" id="{D38AD79E-CE2F-4AA4-88A5-49178B23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07  Deep Research</a:t>
            </a:r>
          </a:p>
        </p:txBody>
      </p:sp>
      <p:sp>
        <p:nvSpPr>
          <p:cNvPr id="2" name="十個深度理解問題：解釋與應用">
            <a:extLst xmlns:a="http://schemas.openxmlformats.org/drawingml/2006/main">
              <a:ext uri="{FF2B5EF4-FFF2-40B4-BE49-F238E27FC236}">
                <a16:creationId xmlns:a16="http://schemas.microsoft.com/office/drawing/2014/main" id="{578B5D1D-7CF2-4975-8A39-62A46F5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十個深度理解問題：解釋與應用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31F9E-D9A1-44C3-8C0E-80A8A95C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B83AA03B-DD12-4140-88B9-F801290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E8A3432E-7E18-46A4-A8E9-25E5324E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sp>
        <p:nvSpPr>
          <p:cNvPr id="6" name="06　Evidence">
            <a:extLst xmlns:a="http://schemas.openxmlformats.org/drawingml/2006/main">
              <a:ext uri="{FF2B5EF4-FFF2-40B4-BE49-F238E27FC236}">
                <a16:creationId xmlns:a16="http://schemas.microsoft.com/office/drawing/2014/main" id="{93ACF6C8-07CE-45D4-8674-61520F0F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06　Evidence</a:t>
            </a:r>
          </a:p>
        </p:txBody>
      </p:sp>
      <p:sp>
        <p:nvSpPr>
          <p:cNvPr id="7" name="SHAP 貢獻接近零，是否代表該部位骨骼健康？如何檢查共線性影響？">
            <a:extLst xmlns:a="http://schemas.openxmlformats.org/drawingml/2006/main">
              <a:ext uri="{FF2B5EF4-FFF2-40B4-BE49-F238E27FC236}">
                <a16:creationId xmlns:a16="http://schemas.microsoft.com/office/drawing/2014/main" id="{E216F4F5-C5B1-443D-B603-F0D910E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SHAP 貢獻接近零，是否代表該部位骨骼健康？如何檢查共線性影響？</a:t>
            </a:r>
          </a:p>
        </p:txBody>
      </p:sp>
      <p:sp>
        <p:nvSpPr>
          <p:cNvPr id="8" name="07　Design Decision">
            <a:extLst xmlns:a="http://schemas.openxmlformats.org/drawingml/2006/main">
              <a:ext uri="{FF2B5EF4-FFF2-40B4-BE49-F238E27FC236}">
                <a16:creationId xmlns:a16="http://schemas.microsoft.com/office/drawing/2014/main" id="{AFA49823-7239-4E70-9A58-2F19854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07　Design Decision</a:t>
            </a:r>
          </a:p>
        </p:txBody>
      </p:sp>
      <p:sp>
        <p:nvSpPr>
          <p:cNvPr id="9" name="為何讓工具處理數值，而由 Agent 負責調度、證據整合與白話回覆？">
            <a:extLst xmlns:a="http://schemas.openxmlformats.org/drawingml/2006/main">
              <a:ext uri="{FF2B5EF4-FFF2-40B4-BE49-F238E27FC236}">
                <a16:creationId xmlns:a16="http://schemas.microsoft.com/office/drawing/2014/main" id="{7AEC7CE7-91FD-470D-8FAE-5FF881B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為何讓工具處理數值，而由 Agent 負責調度、證據整合與白話回覆？</a:t>
            </a:r>
          </a:p>
        </p:txBody>
      </p:sp>
      <p:sp>
        <p:nvSpPr>
          <p:cNvPr id="10" name="08　Real-world Scenario">
            <a:extLst xmlns:a="http://schemas.openxmlformats.org/drawingml/2006/main">
              <a:ext uri="{FF2B5EF4-FFF2-40B4-BE49-F238E27FC236}">
                <a16:creationId xmlns:a16="http://schemas.microsoft.com/office/drawing/2014/main" id="{025AC1C1-6E2A-48C1-A195-9A677C4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08　Real-world Scenario</a:t>
            </a:r>
          </a:p>
        </p:txBody>
      </p:sp>
      <p:sp>
        <p:nvSpPr>
          <p:cNvPr id="11" name="72 歲高風險使用者想跳繩並每日補鈣 2,500 mg，系統需先追問什麼？">
            <a:extLst xmlns:a="http://schemas.openxmlformats.org/drawingml/2006/main">
              <a:ext uri="{FF2B5EF4-FFF2-40B4-BE49-F238E27FC236}">
                <a16:creationId xmlns:a16="http://schemas.microsoft.com/office/drawing/2014/main" id="{F41B24D2-C513-4F24-9E6B-9FA12236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72 歲高風險使用者想跳繩並每日補鈣 2,500 mg，系統需先追問什麼？</a:t>
            </a:r>
          </a:p>
        </p:txBody>
      </p:sp>
      <p:sp>
        <p:nvSpPr>
          <p:cNvPr id="12" name="09　What-if">
            <a:extLst xmlns:a="http://schemas.openxmlformats.org/drawingml/2006/main">
              <a:ext uri="{FF2B5EF4-FFF2-40B4-BE49-F238E27FC236}">
                <a16:creationId xmlns:a16="http://schemas.microsoft.com/office/drawing/2014/main" id="{0B1546B5-A79C-46B2-BF35-A77EED1B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09　What-if</a:t>
            </a:r>
          </a:p>
        </p:txBody>
      </p:sp>
      <p:sp>
        <p:nvSpPr>
          <p:cNvPr id="13" name="美國 NHANES 模型移到台灣，應如何檢查分布偏移與校準落差？">
            <a:extLst xmlns:a="http://schemas.openxmlformats.org/drawingml/2006/main">
              <a:ext uri="{FF2B5EF4-FFF2-40B4-BE49-F238E27FC236}">
                <a16:creationId xmlns:a16="http://schemas.microsoft.com/office/drawing/2014/main" id="{8F86C772-9C3E-42A1-93C3-D67C7668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美國 NHANES 模型移到台灣，應如何檢查分布偏移與校準落差？</a:t>
            </a:r>
          </a:p>
        </p:txBody>
      </p:sp>
      <p:sp>
        <p:nvSpPr>
          <p:cNvPr id="14" name="10　Responsibility">
            <a:extLst xmlns:a="http://schemas.openxmlformats.org/drawingml/2006/main">
              <a:ext uri="{FF2B5EF4-FFF2-40B4-BE49-F238E27FC236}">
                <a16:creationId xmlns:a16="http://schemas.microsoft.com/office/drawing/2014/main" id="{E8A3AAB9-2388-415A-89E4-0AFC83FB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10　Responsibility</a:t>
            </a:r>
          </a:p>
        </p:txBody>
      </p:sp>
      <p:sp>
        <p:nvSpPr>
          <p:cNvPr id="15" name="如何在輸出與流程中區分衛教、轉介與正式診斷／藥物處方？">
            <a:extLst xmlns:a="http://schemas.openxmlformats.org/drawingml/2006/main">
              <a:ext uri="{FF2B5EF4-FFF2-40B4-BE49-F238E27FC236}">
                <a16:creationId xmlns:a16="http://schemas.microsoft.com/office/drawing/2014/main" id="{F385BA29-03F6-4574-887D-00A21801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62775"/>
            <a:ext cx="13639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如何在輸出與流程中區分衛教、轉介與正式診斷／藥物處方？</a:t>
            </a:r>
          </a:p>
        </p:txBody>
      </p:sp>
    </p:spTree>
    <p:extLst>
      <p:ext uri="{BB962C8B-B14F-4D97-AF65-F5344CB8AC3E}">
        <p14:creationId xmlns:p14="http://schemas.microsoft.com/office/powerpoint/2010/main" val="63811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8  Proposed AI Agent">
            <a:extLst xmlns:a="http://schemas.openxmlformats.org/drawingml/2006/main">
              <a:ext uri="{FF2B5EF4-FFF2-40B4-BE49-F238E27FC236}">
                <a16:creationId xmlns:a16="http://schemas.microsoft.com/office/drawing/2014/main" id="{CA4D8714-7F2E-4A5E-9F54-031D5308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08  Proposed AI Agent</a:t>
            </a:r>
          </a:p>
        </p:txBody>
      </p:sp>
      <p:sp>
        <p:nvSpPr>
          <p:cNvPr id="2" name="Agent Design：目標、狀態與工具">
            <a:extLst xmlns:a="http://schemas.openxmlformats.org/drawingml/2006/main">
              <a:ext uri="{FF2B5EF4-FFF2-40B4-BE49-F238E27FC236}">
                <a16:creationId xmlns:a16="http://schemas.microsoft.com/office/drawing/2014/main" id="{BD21CB5E-DDDD-406C-9A8E-4E95EE7A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Agent Design：目標、狀態與工具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382A8-BF15-4E29-8B08-777FC40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B545F096-D6C1-4ABF-B3D7-B93FDD6A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F8CA6B51-1B7A-4064-BDFE-F065597C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6" name="Agent 目標">
            <a:extLst xmlns:a="http://schemas.openxmlformats.org/drawingml/2006/main">
              <a:ext uri="{FF2B5EF4-FFF2-40B4-BE49-F238E27FC236}">
                <a16:creationId xmlns:a16="http://schemas.microsoft.com/office/drawing/2014/main" id="{6F660AB8-BDDD-450A-B1D3-CAFD61E2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Agent 目標</a:t>
            </a:r>
          </a:p>
        </p:txBody>
      </p:sp>
      <p:sp>
        <p:nvSpPr>
          <p:cNvPr id="7" name="接收 DXA 與健康提問，&#10;規劃分析步驟並取得工具結果，&#10;整合證據後產生結構化報告。&#10;&#10;每">
            <a:extLst xmlns:a="http://schemas.openxmlformats.org/drawingml/2006/main">
              <a:ext uri="{FF2B5EF4-FFF2-40B4-BE49-F238E27FC236}">
                <a16:creationId xmlns:a16="http://schemas.microsoft.com/office/drawing/2014/main" id="{BAE33F58-6490-44F4-8483-561ED1BA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接收 DXA 與健康提問，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規劃分析步驟並取得工具結果，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整合證據後產生結構化報告。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每次追問依輸入是否改變，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決定重算或沿用已驗證結果。</a:t>
            </a:r>
          </a:p>
        </p:txBody>
      </p:sp>
      <p:sp>
        <p:nvSpPr>
          <p:cNvPr id="8" name="Agent 狀態">
            <a:extLst xmlns:a="http://schemas.openxmlformats.org/drawingml/2006/main">
              <a:ext uri="{FF2B5EF4-FFF2-40B4-BE49-F238E27FC236}">
                <a16:creationId xmlns:a16="http://schemas.microsoft.com/office/drawing/2014/main" id="{9EA9ED43-3D69-4FE4-B137-B8738AC4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Agent 狀態</a:t>
            </a:r>
          </a:p>
        </p:txBody>
      </p:sp>
      <p:sp>
        <p:nvSpPr>
          <p:cNvPr id="9" name="validated_input、model_version&#10;risk_score、clin">
            <a:extLst xmlns:a="http://schemas.openxmlformats.org/drawingml/2006/main">
              <a:ext uri="{FF2B5EF4-FFF2-40B4-BE49-F238E27FC236}">
                <a16:creationId xmlns:a16="http://schemas.microsoft.com/office/drawing/2014/main" id="{A51655ED-4189-4BCE-9262-599865BB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validated_input、model_version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risk_score、clinical_status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shap_factors、evidence_ids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constraints、conversation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保留工具結果與證據來源，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讓回覆可重現、可查核。</a:t>
            </a:r>
          </a:p>
        </p:txBody>
      </p:sp>
      <p:sp>
        <p:nvSpPr>
          <p:cNvPr id="10" name="工具：ValidateInput　PredictRisk　ExplainSHAP　Retr">
            <a:extLst xmlns:a="http://schemas.openxmlformats.org/drawingml/2006/main">
              <a:ext uri="{FF2B5EF4-FFF2-40B4-BE49-F238E27FC236}">
                <a16:creationId xmlns:a16="http://schemas.microsoft.com/office/drawing/2014/main" id="{854641A7-2C3A-4B84-80AE-4C541223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05675"/>
            <a:ext cx="1363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工具：ValidateInput　PredictRisk　ExplainSHAP　RetrieveGuideline　CheckSafety</a:t>
            </a:r>
          </a:p>
        </p:txBody>
      </p:sp>
    </p:spTree>
    <p:extLst>
      <p:ext uri="{BB962C8B-B14F-4D97-AF65-F5344CB8AC3E}">
        <p14:creationId xmlns:p14="http://schemas.microsoft.com/office/powerpoint/2010/main" val="671327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A4102-C482-4DD9-83C3-5188D191E1EA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157413" y="5019675"/>
            <a:ext cx="3938588" cy="1709738"/>
          </a:xfrm>
          <a:prstGeom xmlns:a="http://schemas.openxmlformats.org/drawingml/2006/main" prst="bentConnector4">
            <a:avLst>
              <a:gd name="adj1" fmla="val 5804"/>
              <a:gd name="adj2" fmla="val 86630"/>
            </a:avLst>
          </a:prstGeom>
          <a:ln xmlns:a="http://schemas.openxmlformats.org/drawingml/2006/main" w="19050">
            <a:solidFill>
              <a:srgbClr val="087F82"/>
            </a:solidFill>
            <a:prstDash val="dash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B6BD9-CB84-41D9-9882-9157B20B0186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11620500" y="5019675"/>
            <a:ext cx="1347788" cy="1709738"/>
          </a:xfrm>
          <a:prstGeom xmlns:a="http://schemas.openxmlformats.org/drawingml/2006/main" prst="bentConnector5">
            <a:avLst>
              <a:gd name="adj1" fmla="val 0"/>
              <a:gd name="adj2" fmla="val 13370"/>
              <a:gd name="adj3" fmla="val 83039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5988B-5127-434B-BB59-807600475D4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968288" y="3238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E9017-928D-4694-8E40-8A84B315B30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477500" y="4519613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9CC28-F4DA-411B-A9DC-28F1DC97235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548563" y="3238500"/>
            <a:ext cx="1571625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97914-4835-439B-9E0D-390F1EE5AE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334250" y="27384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5DD49-F8AD-425E-B4D1-D112F4115B61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5976938" y="3238500"/>
            <a:ext cx="1571625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E4373-F520-4876-92A2-97F4AF10ED1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14725" y="4519613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F7B9A-A681-46D7-BC7A-07BC31900BC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157413" y="3171825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sp>
        <p:nvSpPr>
          <p:cNvPr id="25" name="09  Architecture">
            <a:extLst xmlns:a="http://schemas.openxmlformats.org/drawingml/2006/main">
              <a:ext uri="{FF2B5EF4-FFF2-40B4-BE49-F238E27FC236}">
                <a16:creationId xmlns:a16="http://schemas.microsoft.com/office/drawing/2014/main" id="{13702796-F335-4460-AE07-27EEDB7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09  Architecture</a:t>
            </a:r>
          </a:p>
        </p:txBody>
      </p:sp>
      <p:sp>
        <p:nvSpPr>
          <p:cNvPr id="2" name="System Architecture：①–⑧ 模組與資料流">
            <a:extLst xmlns:a="http://schemas.openxmlformats.org/drawingml/2006/main">
              <a:ext uri="{FF2B5EF4-FFF2-40B4-BE49-F238E27FC236}">
                <a16:creationId xmlns:a16="http://schemas.microsoft.com/office/drawing/2014/main" id="{67B4DBAC-599C-44B3-9DDE-B94B134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System Architecture：①–⑧ 模組與資料流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5BD1C-7ABB-46BD-A6C6-6893ABB8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90315CD6-45B5-423D-98E0-40882E19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2BC202A3-0A2B-4938-A1C3-E474360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6" name="① 使用者&#10;民眾／醫護">
            <a:extLst xmlns:a="http://schemas.openxmlformats.org/drawingml/2006/main">
              <a:ext uri="{FF2B5EF4-FFF2-40B4-BE49-F238E27FC236}">
                <a16:creationId xmlns:a16="http://schemas.microsoft.com/office/drawing/2014/main" id="{B6546830-A2AF-4E61-86B3-EA7B92D5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714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① 使用者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民眾／醫護</a:t>
            </a:r>
          </a:p>
        </p:txBody>
      </p:sp>
      <p:sp>
        <p:nvSpPr>
          <p:cNvPr id="7" name="② 輸入介面&#10;DXA 數值與 Query">
            <a:extLst xmlns:a="http://schemas.openxmlformats.org/drawingml/2006/main">
              <a:ext uri="{FF2B5EF4-FFF2-40B4-BE49-F238E27FC236}">
                <a16:creationId xmlns:a16="http://schemas.microsoft.com/office/drawing/2014/main" id="{1FB18DE3-8372-4E1E-837E-79139971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② 輸入介面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DXA 數值與 Query</a:t>
            </a:r>
          </a:p>
        </p:txBody>
      </p:sp>
      <p:sp>
        <p:nvSpPr>
          <p:cNvPr id="8" name="③ Planner &amp; Coordinator&#10;意圖理解與工具調度">
            <a:extLst xmlns:a="http://schemas.openxmlformats.org/drawingml/2006/main">
              <a:ext uri="{FF2B5EF4-FFF2-40B4-BE49-F238E27FC236}">
                <a16:creationId xmlns:a16="http://schemas.microsoft.com/office/drawing/2014/main" id="{D9C4A21C-D4B5-49E6-880C-992DB53A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5857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E2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③ Planner &amp; Coordinator</a:t>
            </a:r>
          </a:p>
          <a:p xmlns:a="http://schemas.openxmlformats.org/drawingml/2006/main">
            <a:pPr algn="ctr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意圖理解與工具調度</a:t>
            </a:r>
          </a:p>
        </p:txBody>
      </p:sp>
      <p:sp>
        <p:nvSpPr>
          <p:cNvPr id="9" name="④ Data Layer&#10;NHANES／輸入驗證">
            <a:extLst xmlns:a="http://schemas.openxmlformats.org/drawingml/2006/main">
              <a:ext uri="{FF2B5EF4-FFF2-40B4-BE49-F238E27FC236}">
                <a16:creationId xmlns:a16="http://schemas.microsoft.com/office/drawing/2014/main" id="{E8DE96EB-70F1-47BE-BBF7-1182BEC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④ Data Layer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NHANES／輸入驗證</a:t>
            </a:r>
          </a:p>
        </p:txBody>
      </p:sp>
      <p:sp>
        <p:nvSpPr>
          <p:cNvPr id="10" name="⑤ Analytics + AI&#10;特徵／ML／SHAP">
            <a:extLst xmlns:a="http://schemas.openxmlformats.org/drawingml/2006/main">
              <a:ext uri="{FF2B5EF4-FFF2-40B4-BE49-F238E27FC236}">
                <a16:creationId xmlns:a16="http://schemas.microsoft.com/office/drawing/2014/main" id="{4021B9EA-ABA6-4E53-A417-93932D4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⑤ Analytics + AI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特徵／ML／SHAP</a:t>
            </a:r>
          </a:p>
        </p:txBody>
      </p:sp>
      <p:sp>
        <p:nvSpPr>
          <p:cNvPr id="11" name="⑥ Domain Knowledge&#10;臨床／營養／運動 RAG">
            <a:extLst xmlns:a="http://schemas.openxmlformats.org/drawingml/2006/main">
              <a:ext uri="{FF2B5EF4-FFF2-40B4-BE49-F238E27FC236}">
                <a16:creationId xmlns:a16="http://schemas.microsoft.com/office/drawing/2014/main" id="{ACBF1D29-9B65-446F-B0DA-5267964D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2238375"/>
            <a:ext cx="29432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⑥ Domain Knowledge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臨床／營養／運動 RAG</a:t>
            </a:r>
          </a:p>
        </p:txBody>
      </p:sp>
      <p:sp>
        <p:nvSpPr>
          <p:cNvPr id="12" name="⑦ Reasoning &amp; Decision&#10;證據整合與安全檢核">
            <a:extLst xmlns:a="http://schemas.openxmlformats.org/drawingml/2006/main">
              <a:ext uri="{FF2B5EF4-FFF2-40B4-BE49-F238E27FC236}">
                <a16:creationId xmlns:a16="http://schemas.microsoft.com/office/drawing/2014/main" id="{E7D11D6E-6177-4A88-9C16-DBF20B8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019550"/>
            <a:ext cx="29432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⑦ Reasoning &amp; Decision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證據整合與安全檢核</a:t>
            </a:r>
          </a:p>
        </p:txBody>
      </p:sp>
      <p:sp>
        <p:nvSpPr>
          <p:cNvPr id="13" name="⑧ Application Layer&#10;風險報告／預警／建議／問答">
            <a:extLst xmlns:a="http://schemas.openxmlformats.org/drawingml/2006/main">
              <a:ext uri="{FF2B5EF4-FFF2-40B4-BE49-F238E27FC236}">
                <a16:creationId xmlns:a16="http://schemas.microsoft.com/office/drawing/2014/main" id="{29FBEB0E-F726-4F12-9AEA-0D96EE69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29350"/>
            <a:ext cx="5524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⑧ Application Layer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風險報告／預警／建議／問答</a:t>
            </a:r>
          </a:p>
        </p:txBody>
      </p:sp>
      <p:sp>
        <p:nvSpPr>
          <p:cNvPr id="23" name="互動回饋：更新問題或資料">
            <a:extLst xmlns:a="http://schemas.openxmlformats.org/drawingml/2006/main">
              <a:ext uri="{FF2B5EF4-FFF2-40B4-BE49-F238E27FC236}">
                <a16:creationId xmlns:a16="http://schemas.microsoft.com/office/drawing/2014/main" id="{A5405F3F-58FE-4DA4-8F49-7804C8F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72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互動回饋：更新問題或資料</a:t>
            </a:r>
          </a:p>
        </p:txBody>
      </p:sp>
      <p:sp>
        <p:nvSpPr>
          <p:cNvPr id="24" name="實線：資料與工具結果　　虛線：多輪互動">
            <a:extLst xmlns:a="http://schemas.openxmlformats.org/drawingml/2006/main">
              <a:ext uri="{FF2B5EF4-FFF2-40B4-BE49-F238E27FC236}">
                <a16:creationId xmlns:a16="http://schemas.microsoft.com/office/drawing/2014/main" id="{4521879B-C967-40C5-BEA6-EA0017F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5332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實線：資料與工具結果　　虛線：多輪互動</a:t>
            </a:r>
          </a:p>
        </p:txBody>
      </p:sp>
    </p:spTree>
    <p:extLst>
      <p:ext uri="{BB962C8B-B14F-4D97-AF65-F5344CB8AC3E}">
        <p14:creationId xmlns:p14="http://schemas.microsoft.com/office/powerpoint/2010/main" val="613936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9  Architecture">
            <a:extLst xmlns:a="http://schemas.openxmlformats.org/drawingml/2006/main">
              <a:ext uri="{FF2B5EF4-FFF2-40B4-BE49-F238E27FC236}">
                <a16:creationId xmlns:a16="http://schemas.microsoft.com/office/drawing/2014/main" id="{5CCAF6AD-2750-4780-89CC-19F2F8C3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09  Architecture</a:t>
            </a:r>
          </a:p>
        </p:txBody>
      </p:sp>
      <p:sp>
        <p:nvSpPr>
          <p:cNvPr id="2" name="模組說明：①–④ 使用者、輸入、規劃與資料">
            <a:extLst xmlns:a="http://schemas.openxmlformats.org/drawingml/2006/main">
              <a:ext uri="{FF2B5EF4-FFF2-40B4-BE49-F238E27FC236}">
                <a16:creationId xmlns:a16="http://schemas.microsoft.com/office/drawing/2014/main" id="{61C7E125-9ED7-4DE2-A7CE-8DAF4E7D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模組說明：①–④ 使用者、輸入、規劃與資料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58CD5-86E5-4136-BF5F-811FACC4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0FE53C8E-2D7E-40CE-AE15-41BD69F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4DE81371-7E82-42FD-B426-AAC2B287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78BC9-D47C-4142-A3E5-0C40F0F8F81C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09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5429250"/>
                <a:gridCol w="430530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模組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輸出／實作對應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① User / Scenario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民眾、家屬、醫護於健檢與衛教場景使用。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DXA 解讀、飲食或活動提問。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② Query / Input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接收四區 BMD／BMC／Area 與自然語言問題。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Streamlit 表單與聊天輸入。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③ Planner / Coordinator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理解意圖、選擇工具，追蹤任務與對話。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LangChain + OpenAI API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保存工具結果與版本。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④ Data Acquisition / Validation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取得 NHANES 基準並驗證單位、完整性及有效性。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乾淨的特徵輸入或補件訊息。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382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9  Architecture">
            <a:extLst xmlns:a="http://schemas.openxmlformats.org/drawingml/2006/main">
              <a:ext uri="{FF2B5EF4-FFF2-40B4-BE49-F238E27FC236}">
                <a16:creationId xmlns:a16="http://schemas.microsoft.com/office/drawing/2014/main" id="{4C039A0F-5918-40FC-A148-CC5574CE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09  Architecture</a:t>
            </a:r>
          </a:p>
        </p:txBody>
      </p:sp>
      <p:sp>
        <p:nvSpPr>
          <p:cNvPr id="2" name="模組說明：⑤–⑧ 分析、知識、決策與輸出">
            <a:extLst xmlns:a="http://schemas.openxmlformats.org/drawingml/2006/main">
              <a:ext uri="{FF2B5EF4-FFF2-40B4-BE49-F238E27FC236}">
                <a16:creationId xmlns:a16="http://schemas.microsoft.com/office/drawing/2014/main" id="{3BE9599C-289C-4E3C-AE76-FCD21CA2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模組說明：⑤–⑧ 分析、知識、決策與輸出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CD8EC-F77F-4391-854A-313E4CB6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7863B831-B02D-4291-9E14-689F7027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438A8D02-3692-43FB-9BCE-BE18CCCD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BA9E5-B56C-40F2-B2D2-890536289202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09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5429250"/>
                <a:gridCol w="430530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模組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輸出／實作對應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⑤ Analytics / AI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前處理、特徵工程與 ML 推論，計算 SHAP。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scikit-learn／XGBoost／SHAP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風險分數與模型歸因。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⑥ Domain Knowledge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檢索診斷規範、運動與營養證據。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具來源、版本與適用族群的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知識片段與規則。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⑦ Reasoning / Decision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對照模型與規則，查核衝突及安全限制。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個人化建議、限制、轉介提示。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⑧ Output / Interaction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顯示風險報告與圖表，接收多輪問答。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Streamlit 風險／預警／衛教</a:t>
                      </a:r>
                    </a:p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與支持證據。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3349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0  Analytics &amp; AI">
            <a:extLst xmlns:a="http://schemas.openxmlformats.org/drawingml/2006/main">
              <a:ext uri="{FF2B5EF4-FFF2-40B4-BE49-F238E27FC236}">
                <a16:creationId xmlns:a16="http://schemas.microsoft.com/office/drawing/2014/main" id="{0F6BD705-1A10-457E-B586-195DF1B5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10  Analytics &amp; AI</a:t>
            </a:r>
          </a:p>
        </p:txBody>
      </p:sp>
      <p:sp>
        <p:nvSpPr>
          <p:cNvPr id="2" name="資料分析與線上推論的分工">
            <a:extLst xmlns:a="http://schemas.openxmlformats.org/drawingml/2006/main">
              <a:ext uri="{FF2B5EF4-FFF2-40B4-BE49-F238E27FC236}">
                <a16:creationId xmlns:a16="http://schemas.microsoft.com/office/drawing/2014/main" id="{55EFDA88-73F3-4C1C-AF8F-3EDDB18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資料分析與線上推論的分工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C808D-EEAC-4807-A691-BD190BA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BE81808F-FC13-4FF1-94DA-D0C53F5E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9FBAA79F-8817-4E1E-9E98-5D3CC8C3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sp>
        <p:nvSpPr>
          <p:cNvPr id="6" name="離線：建立可驗證模型">
            <a:extLst xmlns:a="http://schemas.openxmlformats.org/drawingml/2006/main">
              <a:ext uri="{FF2B5EF4-FFF2-40B4-BE49-F238E27FC236}">
                <a16:creationId xmlns:a16="http://schemas.microsoft.com/office/drawing/2014/main" id="{121F66DE-ECE8-466F-A475-16BE6EC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離線：建立可驗證模型</a:t>
            </a:r>
          </a:p>
        </p:txBody>
      </p:sp>
      <p:sp>
        <p:nvSpPr>
          <p:cNvPr id="7" name="依 scan status 與有效性碼篩選資料。&#10;探索四區 BMD／BMC／Area 分布">
            <a:extLst xmlns:a="http://schemas.openxmlformats.org/drawingml/2006/main">
              <a:ext uri="{FF2B5EF4-FFF2-40B4-BE49-F238E27FC236}">
                <a16:creationId xmlns:a16="http://schemas.microsoft.com/office/drawing/2014/main" id="{F90D64AD-56FA-4F6F-8F49-1EFA5C4C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依 scan status 與有效性碼篩選資料。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探索四區 BMD／BMC／Area 分布。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在訓練折內補值、標準化與選特徵。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比較 LR、RF 與 XGBoost。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選定模型、閾值與 SHAP 解釋器，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保存前處理器及資料版本。</a:t>
            </a:r>
          </a:p>
        </p:txBody>
      </p:sp>
      <p:sp>
        <p:nvSpPr>
          <p:cNvPr id="8" name="線上：處理單次輸入">
            <a:extLst xmlns:a="http://schemas.openxmlformats.org/drawingml/2006/main">
              <a:ext uri="{FF2B5EF4-FFF2-40B4-BE49-F238E27FC236}">
                <a16:creationId xmlns:a16="http://schemas.microsoft.com/office/drawing/2014/main" id="{5EBCE841-EC01-4292-8066-84B8F7E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線上：處理單次輸入</a:t>
            </a:r>
          </a:p>
        </p:txBody>
      </p:sp>
      <p:sp>
        <p:nvSpPr>
          <p:cNvPr id="9" name="驗證使用者輸入與適用族群。&#10;使用已固定的前處理與模型推論。&#10;產生對應模型的 SHAP 解釋">
            <a:extLst xmlns:a="http://schemas.openxmlformats.org/drawingml/2006/main">
              <a:ext uri="{FF2B5EF4-FFF2-40B4-BE49-F238E27FC236}">
                <a16:creationId xmlns:a16="http://schemas.microsoft.com/office/drawing/2014/main" id="{14B6C2CA-0FBC-44AF-A19E-15C967F3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驗證使用者輸入與適用族群。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使用已固定的前處理與模型推論。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產生對應模型的 SHAP 解釋。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取得臨床規則與 RAG 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整合分數、適用條件與安全檢核，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輸出報告並支援追問。</a:t>
            </a:r>
          </a:p>
        </p:txBody>
      </p:sp>
    </p:spTree>
    <p:extLst>
      <p:ext uri="{BB962C8B-B14F-4D97-AF65-F5344CB8AC3E}">
        <p14:creationId xmlns:p14="http://schemas.microsoft.com/office/powerpoint/2010/main" val="1279887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80DE8-B60A-4403-968F-40550A3E6FC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67750" y="5910263"/>
            <a:ext cx="1524000" cy="661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E10A4-06DD-47AA-8926-31B6560D168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667750" y="4572000"/>
            <a:ext cx="1524000" cy="1338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328AB-49D3-434F-8019-8C751DB1E7E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667750" y="2619375"/>
            <a:ext cx="1524000" cy="32908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BDE3D-F48D-4B44-96D0-F3D0633C502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977063" y="438150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E0245-D3D2-4D70-AC5F-D7563A713D6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977063" y="29527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0046D-47A8-4D76-A761-AFEF2ABCEF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038600" y="2571750"/>
            <a:ext cx="1247775" cy="16430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37354-09DC-4A4E-8295-AF70653A2547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71500" y="2571750"/>
            <a:ext cx="228600" cy="3905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9AE7B-3FE8-4DBC-B253-90DF5CE3785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362200" y="4905375"/>
            <a:ext cx="57150" cy="1143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D39A1-EEC5-4E07-A0A8-E49B15814DD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19350" y="29527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sp>
        <p:nvSpPr>
          <p:cNvPr id="27" name="11  Flowchart">
            <a:extLst xmlns:a="http://schemas.openxmlformats.org/drawingml/2006/main">
              <a:ext uri="{FF2B5EF4-FFF2-40B4-BE49-F238E27FC236}">
                <a16:creationId xmlns:a16="http://schemas.microsoft.com/office/drawing/2014/main" id="{F1909E4D-D9C9-4EBA-A594-AE0C6617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11  Flowchart</a:t>
            </a:r>
          </a:p>
        </p:txBody>
      </p:sp>
      <p:sp>
        <p:nvSpPr>
          <p:cNvPr id="2" name="Flowchart：輸入、分析、分級與知識檢索">
            <a:extLst xmlns:a="http://schemas.openxmlformats.org/drawingml/2006/main">
              <a:ext uri="{FF2B5EF4-FFF2-40B4-BE49-F238E27FC236}">
                <a16:creationId xmlns:a16="http://schemas.microsoft.com/office/drawing/2014/main" id="{B37DAA49-F5E5-4CE3-A706-4A02F010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Flowchart：輸入、分析、分級與知識檢索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E2002-1592-4CD2-AD6A-FA05E16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5E27AB38-A80A-4083-BD40-A2AEB941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5F226823-29B8-43E8-BD90-51B357F9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sp>
        <p:nvSpPr>
          <p:cNvPr id="6" name="1　輸入 DXA 與問題">
            <a:extLst xmlns:a="http://schemas.openxmlformats.org/drawingml/2006/main">
              <a:ext uri="{FF2B5EF4-FFF2-40B4-BE49-F238E27FC236}">
                <a16:creationId xmlns:a16="http://schemas.microsoft.com/office/drawing/2014/main" id="{291364F0-B9BC-4C6C-A01F-1E86B83B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1　輸入 DXA 與問題</a:t>
            </a:r>
          </a:p>
        </p:txBody>
      </p:sp>
      <p:sp>
        <p:nvSpPr>
          <p:cNvPr id="7" name="2　輸入有效？">
            <a:extLst xmlns:a="http://schemas.openxmlformats.org/drawingml/2006/main">
              <a:ext uri="{FF2B5EF4-FFF2-40B4-BE49-F238E27FC236}">
                <a16:creationId xmlns:a16="http://schemas.microsoft.com/office/drawing/2014/main" id="{E27767B4-EE96-4A9F-AF87-2DB99B87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238500" cy="1381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2　輸入有效？</a:t>
            </a:r>
          </a:p>
        </p:txBody>
      </p:sp>
      <p:sp>
        <p:nvSpPr>
          <p:cNvPr id="8" name="提示修正／補齊資料">
            <a:extLst xmlns:a="http://schemas.openxmlformats.org/drawingml/2006/main">
              <a:ext uri="{FF2B5EF4-FFF2-40B4-BE49-F238E27FC236}">
                <a16:creationId xmlns:a16="http://schemas.microsoft.com/office/drawing/2014/main" id="{26B1F871-18B3-4BAE-8A01-8B0A075D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提示修正／補齊資料</a:t>
            </a:r>
          </a:p>
        </p:txBody>
      </p:sp>
      <p:sp>
        <p:nvSpPr>
          <p:cNvPr id="9" name="3　特徵工程">
            <a:extLst xmlns:a="http://schemas.openxmlformats.org/drawingml/2006/main">
              <a:ext uri="{FF2B5EF4-FFF2-40B4-BE49-F238E27FC236}">
                <a16:creationId xmlns:a16="http://schemas.microsoft.com/office/drawing/2014/main" id="{933163BB-D5DE-4F81-9E51-C3FC2D8C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3381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3　特徵工程</a:t>
            </a:r>
          </a:p>
        </p:txBody>
      </p:sp>
      <p:sp>
        <p:nvSpPr>
          <p:cNvPr id="10" name="4　ML 推論 + SHAP">
            <a:extLst xmlns:a="http://schemas.openxmlformats.org/drawingml/2006/main">
              <a:ext uri="{FF2B5EF4-FFF2-40B4-BE49-F238E27FC236}">
                <a16:creationId xmlns:a16="http://schemas.microsoft.com/office/drawing/2014/main" id="{72FF6A8F-6E11-44A9-8759-08F83A83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3381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4　ML 推論 + SHAP</a:t>
            </a:r>
          </a:p>
        </p:txBody>
      </p:sp>
      <p:sp>
        <p:nvSpPr>
          <p:cNvPr id="11" name="5　風險分級&#10;比對臨床規則">
            <a:extLst xmlns:a="http://schemas.openxmlformats.org/drawingml/2006/main">
              <a:ext uri="{FF2B5EF4-FFF2-40B4-BE49-F238E27FC236}">
                <a16:creationId xmlns:a16="http://schemas.microsoft.com/office/drawing/2014/main" id="{FA3083B9-E728-424A-B2C3-4A7E5E34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19700"/>
            <a:ext cx="3381375" cy="1381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5　風險分級</a:t>
            </a:r>
          </a:p>
          <a:p xmlns:a="http://schemas.openxmlformats.org/drawingml/2006/main">
            <a: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比對臨床規則</a:t>
            </a:r>
          </a:p>
        </p:txBody>
      </p:sp>
      <p:sp>
        <p:nvSpPr>
          <p:cNvPr id="12" name="低風險路由&#10;一般保養證據">
            <a:extLst xmlns:a="http://schemas.openxmlformats.org/drawingml/2006/main">
              <a:ext uri="{FF2B5EF4-FFF2-40B4-BE49-F238E27FC236}">
                <a16:creationId xmlns:a16="http://schemas.microsoft.com/office/drawing/2014/main" id="{AE300292-0557-4A25-8AD4-1AFC1C70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低風險路由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一般保養證據</a:t>
            </a:r>
          </a:p>
        </p:txBody>
      </p:sp>
      <p:sp>
        <p:nvSpPr>
          <p:cNvPr id="13" name="中度風險路由&#10;骨量管理證據">
            <a:extLst xmlns:a="http://schemas.openxmlformats.org/drawingml/2006/main">
              <a:ext uri="{FF2B5EF4-FFF2-40B4-BE49-F238E27FC236}">
                <a16:creationId xmlns:a16="http://schemas.microsoft.com/office/drawing/2014/main" id="{D1D291A2-95D3-4B64-B279-90D1C826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43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中度風險路由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骨量管理證據</a:t>
            </a:r>
          </a:p>
        </p:txBody>
      </p:sp>
      <p:sp>
        <p:nvSpPr>
          <p:cNvPr id="14" name="高風險／需複核&#10;安全限制與轉介證據">
            <a:extLst xmlns:a="http://schemas.openxmlformats.org/drawingml/2006/main">
              <a:ext uri="{FF2B5EF4-FFF2-40B4-BE49-F238E27FC236}">
                <a16:creationId xmlns:a16="http://schemas.microsoft.com/office/drawing/2014/main" id="{11DEBD68-FAF4-454E-BF20-29037091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96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高風險／需複核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安全限制與轉介證據</a:t>
            </a:r>
          </a:p>
        </p:txBody>
      </p:sp>
      <p:sp>
        <p:nvSpPr>
          <p:cNvPr id="24" name="否">
            <a:extLst xmlns:a="http://schemas.openxmlformats.org/drawingml/2006/main">
              <a:ext uri="{FF2B5EF4-FFF2-40B4-BE49-F238E27FC236}">
                <a16:creationId xmlns:a16="http://schemas.microsoft.com/office/drawing/2014/main" id="{88A33B8B-A72E-4CC6-9958-7394D55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B66A30"/>
                </a:solidFill>
                <a:latin typeface="Heiti TC"/>
                <a:ea typeface="Heiti TC"/>
                <a:cs typeface="Heiti TC"/>
              </a:rPr>
              <a:t>否</a:t>
            </a:r>
          </a:p>
        </p:txBody>
      </p:sp>
      <p:sp>
        <p:nvSpPr>
          <p:cNvPr id="25" name="是">
            <a:extLst xmlns:a="http://schemas.openxmlformats.org/drawingml/2006/main">
              <a:ext uri="{FF2B5EF4-FFF2-40B4-BE49-F238E27FC236}">
                <a16:creationId xmlns:a16="http://schemas.microsoft.com/office/drawing/2014/main" id="{786D3D24-7F39-4E36-A2D9-9F6D7A3B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是</a:t>
            </a:r>
          </a:p>
        </p:txBody>
      </p:sp>
      <p:sp>
        <p:nvSpPr>
          <p:cNvPr id="26" name="三個分支皆進入第 6 步「知識庫推理」（下一頁）">
            <a:extLst xmlns:a="http://schemas.openxmlformats.org/drawingml/2006/main">
              <a:ext uri="{FF2B5EF4-FFF2-40B4-BE49-F238E27FC236}">
                <a16:creationId xmlns:a16="http://schemas.microsoft.com/office/drawing/2014/main" id="{ECDA070C-3084-410C-9F7B-0C6BE541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4485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三個分支皆進入第 6 步「知識庫推理」（下一頁）</a:t>
            </a:r>
          </a:p>
        </p:txBody>
      </p:sp>
    </p:spTree>
    <p:extLst>
      <p:ext uri="{BB962C8B-B14F-4D97-AF65-F5344CB8AC3E}">
        <p14:creationId xmlns:p14="http://schemas.microsoft.com/office/powerpoint/2010/main" val="271486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939EF-94CD-468C-9B95-3BB1C463172D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12430125" y="3190875"/>
            <a:ext cx="23813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5D029-1C22-4211-9AAC-FA05B837501F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12453938" y="5000625"/>
            <a:ext cx="476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D083-70BA-460C-9520-4B344C0B3EB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191625" y="6500813"/>
            <a:ext cx="128587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C33E6-46E2-4C03-8144-2506462A441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86875" y="4071938"/>
            <a:ext cx="1190625" cy="2428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4F06F-454A-4159-8EE8-C8B6A65FB5E3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7715250" y="4572000"/>
            <a:ext cx="1238250" cy="1333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82F09-F9BF-41DD-A344-F660735A44A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95850" y="6524625"/>
            <a:ext cx="1343025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7682F-A469-48F0-85DE-0A6CA295EF6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47975" y="50958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C6AA9-F770-48C6-BDDD-7662195DA57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847975" y="32385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2"/>
            </a:solidFill>
            <a:prstDash val="solid"/>
            <a:tailEnd type="triangle" w="med" len="med"/>
          </a:ln>
        </p:spPr>
      </p:cxnSp>
      <p:sp>
        <p:nvSpPr>
          <p:cNvPr id="24" name="11  Flowchart">
            <a:extLst xmlns:a="http://schemas.openxmlformats.org/drawingml/2006/main">
              <a:ext uri="{FF2B5EF4-FFF2-40B4-BE49-F238E27FC236}">
                <a16:creationId xmlns:a16="http://schemas.microsoft.com/office/drawing/2014/main" id="{A74F1756-288C-4F96-95BE-26759D9D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11  Flowchart</a:t>
            </a:r>
          </a:p>
        </p:txBody>
      </p:sp>
      <p:sp>
        <p:nvSpPr>
          <p:cNvPr id="2" name="Flowchart：建議生成、安全檢核與追問">
            <a:extLst xmlns:a="http://schemas.openxmlformats.org/drawingml/2006/main">
              <a:ext uri="{FF2B5EF4-FFF2-40B4-BE49-F238E27FC236}">
                <a16:creationId xmlns:a16="http://schemas.microsoft.com/office/drawing/2014/main" id="{B70B08D7-1816-4FA7-877F-ECFAA661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Flowchart：建議生成、安全檢核與追問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183B3-8D96-4E6C-8B5C-54525D06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866C8C50-40F3-4168-9702-1DA6F01B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427B9C3D-62EA-4EC4-BDF0-D7E9CC3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sp>
        <p:nvSpPr>
          <p:cNvPr id="6" name="6　知識庫推理&#10;整合規則、風險與 SHAP">
            <a:extLst xmlns:a="http://schemas.openxmlformats.org/drawingml/2006/main">
              <a:ext uri="{FF2B5EF4-FFF2-40B4-BE49-F238E27FC236}">
                <a16:creationId xmlns:a16="http://schemas.microsoft.com/office/drawing/2014/main" id="{FAD3A787-F0F0-4070-B7A8-79A90DF7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6　知識庫推理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整合規則、風險與 SHAP</a:t>
            </a:r>
          </a:p>
        </p:txBody>
      </p:sp>
      <p:sp>
        <p:nvSpPr>
          <p:cNvPr id="7" name="7　個人化建議&#10;運動與營養條件限制">
            <a:extLst xmlns:a="http://schemas.openxmlformats.org/drawingml/2006/main">
              <a:ext uri="{FF2B5EF4-FFF2-40B4-BE49-F238E27FC236}">
                <a16:creationId xmlns:a16="http://schemas.microsoft.com/office/drawing/2014/main" id="{9DA69F12-D2F6-40F4-9795-868245F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7　個人化建議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運動與營養條件限制</a:t>
            </a:r>
          </a:p>
        </p:txBody>
      </p:sp>
      <p:sp>
        <p:nvSpPr>
          <p:cNvPr id="8" name="8　Agent 產生回覆&#10;保留數值與引用來源">
            <a:extLst xmlns:a="http://schemas.openxmlformats.org/drawingml/2006/main">
              <a:ext uri="{FF2B5EF4-FFF2-40B4-BE49-F238E27FC236}">
                <a16:creationId xmlns:a16="http://schemas.microsoft.com/office/drawing/2014/main" id="{7FBE38D7-88A7-4328-8C3E-CDB822A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8　Agent 產生回覆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保留數值與引用來源</a:t>
            </a:r>
          </a:p>
        </p:txBody>
      </p:sp>
      <p:sp>
        <p:nvSpPr>
          <p:cNvPr id="9" name="安全與證據&#10;檢核通過？">
            <a:extLst xmlns:a="http://schemas.openxmlformats.org/drawingml/2006/main">
              <a:ext uri="{FF2B5EF4-FFF2-40B4-BE49-F238E27FC236}">
                <a16:creationId xmlns:a16="http://schemas.microsoft.com/office/drawing/2014/main" id="{55987B58-B5FA-4591-8150-17C0DBF0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905500"/>
            <a:ext cx="2952750" cy="1381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安全與證據</a:t>
            </a:r>
          </a:p>
          <a:p xmlns:a="http://schemas.openxmlformats.org/drawingml/2006/main">
            <a:pPr algn="ctr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檢核通過？</a:t>
            </a:r>
          </a:p>
        </p:txBody>
      </p:sp>
      <p:sp>
        <p:nvSpPr>
          <p:cNvPr id="10" name="修正一次或降級回覆&#10;證據不足／請醫護複核">
            <a:extLst xmlns:a="http://schemas.openxmlformats.org/drawingml/2006/main">
              <a:ext uri="{FF2B5EF4-FFF2-40B4-BE49-F238E27FC236}">
                <a16:creationId xmlns:a16="http://schemas.microsoft.com/office/drawing/2014/main" id="{4E21D398-62E6-47D3-8A31-C7E235C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71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修正一次或降級回覆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證據不足／請醫護複核</a:t>
            </a:r>
          </a:p>
        </p:txBody>
      </p:sp>
      <p:sp>
        <p:nvSpPr>
          <p:cNvPr id="11" name="9　輸出報告&#10;風險、解釋、建議與限制">
            <a:extLst xmlns:a="http://schemas.openxmlformats.org/drawingml/2006/main">
              <a:ext uri="{FF2B5EF4-FFF2-40B4-BE49-F238E27FC236}">
                <a16:creationId xmlns:a16="http://schemas.microsoft.com/office/drawing/2014/main" id="{2966F416-4B0D-40E9-88F4-C7CE346D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00750"/>
            <a:ext cx="3962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9　輸出報告</a:t>
            </a:r>
          </a:p>
          <a:p xmlns:a="http://schemas.openxmlformats.org/drawingml/2006/main">
            <a:pPr algn="ctr">
              <a:defRPr sz="19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風險、解釋、建議與限制</a:t>
            </a:r>
          </a:p>
        </p:txBody>
      </p:sp>
      <p:sp>
        <p:nvSpPr>
          <p:cNvPr id="12" name="繼續追問？&#10;資料有變更？">
            <a:extLst xmlns:a="http://schemas.openxmlformats.org/drawingml/2006/main">
              <a:ext uri="{FF2B5EF4-FFF2-40B4-BE49-F238E27FC236}">
                <a16:creationId xmlns:a16="http://schemas.microsoft.com/office/drawing/2014/main" id="{C8900C62-6664-459F-8B1E-4D80C1A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71875"/>
            <a:ext cx="3286125" cy="1428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繼續追問？</a:t>
            </a:r>
          </a:p>
          <a:p xmlns:a="http://schemas.openxmlformats.org/drawingml/2006/main">
            <a: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資料有變更？</a:t>
            </a:r>
          </a:p>
        </p:txBody>
      </p:sp>
      <p:sp>
        <p:nvSpPr>
          <p:cNvPr id="13" name="資料未變：回第 6 步&#10;資料更新：重走輸入驗證&#10;無追問：結束">
            <a:extLst xmlns:a="http://schemas.openxmlformats.org/drawingml/2006/main">
              <a:ext uri="{FF2B5EF4-FFF2-40B4-BE49-F238E27FC236}">
                <a16:creationId xmlns:a16="http://schemas.microsoft.com/office/drawing/2014/main" id="{87C810BF-C339-4A06-96D4-E7849648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38375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15240">
            <a:solidFill>
              <a:srgbClr val="087F82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資料未變：回第 6 步</a:t>
            </a:r>
          </a:p>
          <a:p xmlns:a="http://schemas.openxmlformats.org/drawingml/2006/main">
            <a: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資料更新：重走輸入驗證</a:t>
            </a:r>
          </a:p>
          <a:p xmlns:a="http://schemas.openxmlformats.org/drawingml/2006/main">
            <a:pPr algn="ctr">
              <a:defRPr sz="180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無追問：結束</a:t>
            </a:r>
          </a:p>
        </p:txBody>
      </p:sp>
      <p:sp>
        <p:nvSpPr>
          <p:cNvPr id="22" name="未通過">
            <a:extLst xmlns:a="http://schemas.openxmlformats.org/drawingml/2006/main">
              <a:ext uri="{FF2B5EF4-FFF2-40B4-BE49-F238E27FC236}">
                <a16:creationId xmlns:a16="http://schemas.microsoft.com/office/drawing/2014/main" id="{57CA7F7A-B4BE-4A05-A149-7CF2FB1E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149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66A30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B66A30"/>
                </a:solidFill>
                <a:latin typeface="Heiti TC"/>
                <a:ea typeface="Heiti TC"/>
                <a:cs typeface="Heiti TC"/>
              </a:rPr>
              <a:t>未通過</a:t>
            </a:r>
          </a:p>
        </p:txBody>
      </p:sp>
      <p:sp>
        <p:nvSpPr>
          <p:cNvPr id="23" name="通過">
            <a:extLst xmlns:a="http://schemas.openxmlformats.org/drawingml/2006/main">
              <a:ext uri="{FF2B5EF4-FFF2-40B4-BE49-F238E27FC236}">
                <a16:creationId xmlns:a16="http://schemas.microsoft.com/office/drawing/2014/main" id="{7EBFAA91-809C-4901-91C0-4D82D178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2865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通過</a:t>
            </a:r>
          </a:p>
        </p:txBody>
      </p:sp>
    </p:spTree>
    <p:extLst>
      <p:ext uri="{BB962C8B-B14F-4D97-AF65-F5344CB8AC3E}">
        <p14:creationId xmlns:p14="http://schemas.microsoft.com/office/powerpoint/2010/main" val="18137818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2  Domain Integration">
            <a:extLst xmlns:a="http://schemas.openxmlformats.org/drawingml/2006/main">
              <a:ext uri="{FF2B5EF4-FFF2-40B4-BE49-F238E27FC236}">
                <a16:creationId xmlns:a16="http://schemas.microsoft.com/office/drawing/2014/main" id="{9495BC3A-C710-4107-BC63-1570F30D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12  Domain Integration</a:t>
            </a:r>
          </a:p>
        </p:txBody>
      </p:sp>
      <p:sp>
        <p:nvSpPr>
          <p:cNvPr id="2" name="RAG 知識庫與安全規則">
            <a:extLst xmlns:a="http://schemas.openxmlformats.org/drawingml/2006/main">
              <a:ext uri="{FF2B5EF4-FFF2-40B4-BE49-F238E27FC236}">
                <a16:creationId xmlns:a16="http://schemas.microsoft.com/office/drawing/2014/main" id="{544A1082-A045-481F-BFBA-A7B74CD7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RAG 知識庫與安全規則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F5729-1E84-44FB-8A58-429E5BD1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61881451-5A0D-4E99-B63F-715AD429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10548EA7-9AFC-4A0C-9098-6AF97E48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6" name="知識內容與來源">
            <a:extLst xmlns:a="http://schemas.openxmlformats.org/drawingml/2006/main">
              <a:ext uri="{FF2B5EF4-FFF2-40B4-BE49-F238E27FC236}">
                <a16:creationId xmlns:a16="http://schemas.microsoft.com/office/drawing/2014/main" id="{4CADE490-2E9C-47D9-917A-8E55AD7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知識內容與來源</a:t>
            </a:r>
          </a:p>
        </p:txBody>
      </p:sp>
      <p:sp>
        <p:nvSpPr>
          <p:cNvPr id="7" name="骨密度判讀、骨折風險因子、運動安全與營養指引，記錄版本、來源與適用族群。">
            <a:extLst xmlns:a="http://schemas.openxmlformats.org/drawingml/2006/main">
              <a:ext uri="{FF2B5EF4-FFF2-40B4-BE49-F238E27FC236}">
                <a16:creationId xmlns:a16="http://schemas.microsoft.com/office/drawing/2014/main" id="{9D42BEA1-7895-4476-A9A5-8FCC0606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骨密度判讀、骨折風險因子、運動安全與營養指引，記錄版本、來源與適用族群。</a:t>
            </a:r>
          </a:p>
        </p:txBody>
      </p:sp>
      <p:sp>
        <p:nvSpPr>
          <p:cNvPr id="8" name="檢索條件">
            <a:extLst xmlns:a="http://schemas.openxmlformats.org/drawingml/2006/main">
              <a:ext uri="{FF2B5EF4-FFF2-40B4-BE49-F238E27FC236}">
                <a16:creationId xmlns:a16="http://schemas.microsoft.com/office/drawing/2014/main" id="{918FB133-054E-48B0-AEF6-CFF3F1D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檢索條件</a:t>
            </a:r>
          </a:p>
        </p:txBody>
      </p:sp>
      <p:sp>
        <p:nvSpPr>
          <p:cNvPr id="9" name="使用風險路由、關鍵指標與使用者問題檢索，回傳來源 ID 與適用條件。">
            <a:extLst xmlns:a="http://schemas.openxmlformats.org/drawingml/2006/main">
              <a:ext uri="{FF2B5EF4-FFF2-40B4-BE49-F238E27FC236}">
                <a16:creationId xmlns:a16="http://schemas.microsoft.com/office/drawing/2014/main" id="{BA490BC3-37C7-4C23-9A92-E613B0B3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使用風險路由、關鍵指標與使用者問題檢索，回傳來源 ID 與適用條件。</a:t>
            </a:r>
          </a:p>
        </p:txBody>
      </p:sp>
      <p:sp>
        <p:nvSpPr>
          <p:cNvPr id="10" name="生成前與生成後檢核">
            <a:extLst xmlns:a="http://schemas.openxmlformats.org/drawingml/2006/main">
              <a:ext uri="{FF2B5EF4-FFF2-40B4-BE49-F238E27FC236}">
                <a16:creationId xmlns:a16="http://schemas.microsoft.com/office/drawing/2014/main" id="{8D380420-2807-4B57-A25E-51DE313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生成前與生成後檢核</a:t>
            </a:r>
          </a:p>
        </p:txBody>
      </p:sp>
      <p:sp>
        <p:nvSpPr>
          <p:cNvPr id="11" name="查核數值、引用支持度、運動限制與營養總攝取，資訊不足時追問或轉介。">
            <a:extLst xmlns:a="http://schemas.openxmlformats.org/drawingml/2006/main">
              <a:ext uri="{FF2B5EF4-FFF2-40B4-BE49-F238E27FC236}">
                <a16:creationId xmlns:a16="http://schemas.microsoft.com/office/drawing/2014/main" id="{3D2D41E0-B895-4BB9-981C-A608E70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查核數值、引用支持度、運動限制與營養總攝取，資訊不足時追問或轉介。</a:t>
            </a:r>
          </a:p>
        </p:txBody>
      </p:sp>
      <p:sp>
        <p:nvSpPr>
          <p:cNvPr id="12" name="失敗處理">
            <a:extLst xmlns:a="http://schemas.openxmlformats.org/drawingml/2006/main">
              <a:ext uri="{FF2B5EF4-FFF2-40B4-BE49-F238E27FC236}">
                <a16:creationId xmlns:a16="http://schemas.microsoft.com/office/drawing/2014/main" id="{4C429693-5926-4BB3-A3ED-F2194DFE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790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失敗處理</a:t>
            </a:r>
          </a:p>
        </p:txBody>
      </p:sp>
      <p:sp>
        <p:nvSpPr>
          <p:cNvPr id="13" name="模型／檢索不可用、證據矛盾或輸入超出適用範圍時，保留限制並提供複核提示。">
            <a:extLst xmlns:a="http://schemas.openxmlformats.org/drawingml/2006/main">
              <a:ext uri="{FF2B5EF4-FFF2-40B4-BE49-F238E27FC236}">
                <a16:creationId xmlns:a16="http://schemas.microsoft.com/office/drawing/2014/main" id="{F5A96D5B-520B-4D8E-A33E-F21115F1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34150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模型／檢索不可用、證據矛盾或輸入超出適用範圍時，保留限制並提供複核提示。</a:t>
            </a:r>
          </a:p>
        </p:txBody>
      </p:sp>
    </p:spTree>
    <p:extLst>
      <p:ext uri="{BB962C8B-B14F-4D97-AF65-F5344CB8AC3E}">
        <p14:creationId xmlns:p14="http://schemas.microsoft.com/office/powerpoint/2010/main" val="1190060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13  Algorithm 1">
            <a:extLst xmlns:a="http://schemas.openxmlformats.org/drawingml/2006/main">
              <a:ext uri="{FF2B5EF4-FFF2-40B4-BE49-F238E27FC236}">
                <a16:creationId xmlns:a16="http://schemas.microsoft.com/office/drawing/2014/main" id="{E5988D61-D472-40D6-B026-F89BDC08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13  Algorithm 1</a:t>
            </a:r>
          </a:p>
        </p:txBody>
      </p:sp>
      <p:sp>
        <p:nvSpPr>
          <p:cNvPr id="2" name="Pseudocode：資料驗證與風險分析">
            <a:extLst xmlns:a="http://schemas.openxmlformats.org/drawingml/2006/main">
              <a:ext uri="{FF2B5EF4-FFF2-40B4-BE49-F238E27FC236}">
                <a16:creationId xmlns:a16="http://schemas.microsoft.com/office/drawing/2014/main" id="{D2E38747-0C0E-4F7D-B061-F6AE902C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Pseudocode：資料驗證與風險分析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FC3ED-5038-43AB-9A89-11B7B7E8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79BB448F-50F3-47B0-8FF8-58086E2A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F8112DA8-7512-4EEE-93BB-042DCD20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6" name="Input: X（DXA）, Q（問題）, M*（模型）, D_ref（常模）, KB（知">
            <a:extLst xmlns:a="http://schemas.openxmlformats.org/drawingml/2006/main">
              <a:ext uri="{FF2B5EF4-FFF2-40B4-BE49-F238E27FC236}">
                <a16:creationId xmlns:a16="http://schemas.microsoft.com/office/drawing/2014/main" id="{CF23DEDE-0848-4F45-B0ED-CC318982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3639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Input: X（DXA）, Q（問題）, M*（模型）, D_ref（常模）, KB（知識庫）</a:t>
            </a:r>
          </a:p>
          <a:p xmlns:a="http://schemas.openxmlformats.org/drawingml/2006/main">
            <a:pPr algn="l">
              <a:defRPr sz="2025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Output: R（含風險、解釋、證據與生活建議的報告）</a:t>
            </a:r>
          </a:p>
        </p:txBody>
      </p:sp>
      <p:sp>
        <p:nvSpPr>
          <p:cNvPr id="7" name="01  Receive X, Q and user context C">
            <a:extLst xmlns:a="http://schemas.openxmlformats.org/drawingml/2006/main">
              <a:ext uri="{FF2B5EF4-FFF2-40B4-BE49-F238E27FC236}">
                <a16:creationId xmlns:a16="http://schemas.microsoft.com/office/drawing/2014/main" id="{F24CAB35-26CD-4DDC-823E-05F994F7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01  Receive X, Q and user context C</a:t>
            </a:r>
          </a:p>
        </p:txBody>
      </p:sp>
      <p:sp>
        <p:nvSpPr>
          <p:cNvPr id="8" name="02  valid, message &lt;- ValidateInput(X, C, D_r">
            <a:extLst xmlns:a="http://schemas.openxmlformats.org/drawingml/2006/main">
              <a:ext uri="{FF2B5EF4-FFF2-40B4-BE49-F238E27FC236}">
                <a16:creationId xmlns:a16="http://schemas.microsoft.com/office/drawing/2014/main" id="{36EF7369-4917-418C-80A8-5242785D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328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02  valid, message &lt;- ValidateInput(X, C, D_ref)</a:t>
            </a:r>
          </a:p>
        </p:txBody>
      </p:sp>
      <p:sp>
        <p:nvSpPr>
          <p:cNvPr id="9" name="03  if not valid then">
            <a:extLst xmlns:a="http://schemas.openxmlformats.org/drawingml/2006/main">
              <a:ext uri="{FF2B5EF4-FFF2-40B4-BE49-F238E27FC236}">
                <a16:creationId xmlns:a16="http://schemas.microsoft.com/office/drawing/2014/main" id="{B7D17C2E-AE35-498F-9171-F77968C5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0332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03  if not valid then</a:t>
            </a:r>
          </a:p>
        </p:txBody>
      </p:sp>
      <p:sp>
        <p:nvSpPr>
          <p:cNvPr id="10" name="04      return RequestCorrection(message)">
            <a:extLst xmlns:a="http://schemas.openxmlformats.org/drawingml/2006/main">
              <a:ext uri="{FF2B5EF4-FFF2-40B4-BE49-F238E27FC236}">
                <a16:creationId xmlns:a16="http://schemas.microsoft.com/office/drawing/2014/main" id="{B3138812-176F-45AD-86F0-3304D4A5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335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04      return RequestCorrection(message)</a:t>
            </a:r>
          </a:p>
        </p:txBody>
      </p:sp>
      <p:sp>
        <p:nvSpPr>
          <p:cNvPr id="11" name="05  end if">
            <a:extLst xmlns:a="http://schemas.openxmlformats.org/drawingml/2006/main">
              <a:ext uri="{FF2B5EF4-FFF2-40B4-BE49-F238E27FC236}">
                <a16:creationId xmlns:a16="http://schemas.microsoft.com/office/drawing/2014/main" id="{0A94F953-5D41-4852-B66E-69CB969E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339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05  end if</a:t>
            </a:r>
          </a:p>
        </p:txBody>
      </p:sp>
      <p:sp>
        <p:nvSpPr>
          <p:cNvPr id="12" name="06  X_feat &lt;- ApplySavedPreprocessor(X)">
            <a:extLst xmlns:a="http://schemas.openxmlformats.org/drawingml/2006/main">
              <a:ext uri="{FF2B5EF4-FFF2-40B4-BE49-F238E27FC236}">
                <a16:creationId xmlns:a16="http://schemas.microsoft.com/office/drawing/2014/main" id="{2603EFB9-709A-4728-B900-6CED7F84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4342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06  X_feat &lt;- ApplySavedPreprocessor(X)</a:t>
            </a:r>
          </a:p>
        </p:txBody>
      </p:sp>
      <p:sp>
        <p:nvSpPr>
          <p:cNvPr id="13" name="07  P_risk &lt;- M*.predict_proba(X_feat)">
            <a:extLst xmlns:a="http://schemas.openxmlformats.org/drawingml/2006/main">
              <a:ext uri="{FF2B5EF4-FFF2-40B4-BE49-F238E27FC236}">
                <a16:creationId xmlns:a16="http://schemas.microsoft.com/office/drawing/2014/main" id="{3A870E6F-F338-45CD-B21F-9A4875F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2346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07  P_risk &lt;- M*.predict_proba(X_feat)</a:t>
            </a:r>
          </a:p>
        </p:txBody>
      </p:sp>
      <p:sp>
        <p:nvSpPr>
          <p:cNvPr id="14" name="08  shap, factors &lt;- ExplainModel(M*, X_feat)">
            <a:extLst xmlns:a="http://schemas.openxmlformats.org/drawingml/2006/main">
              <a:ext uri="{FF2B5EF4-FFF2-40B4-BE49-F238E27FC236}">
                <a16:creationId xmlns:a16="http://schemas.microsoft.com/office/drawing/2014/main" id="{042DF3DB-6EA0-44BA-AC08-9A55C3DE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349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08  shap, factors &lt;- ExplainModel(M*, X_feat)</a:t>
            </a:r>
          </a:p>
        </p:txBody>
      </p:sp>
      <p:sp>
        <p:nvSpPr>
          <p:cNvPr id="15" name="09  if ValidNormsAndPopulation(X, C, D_ref) t">
            <a:extLst xmlns:a="http://schemas.openxmlformats.org/drawingml/2006/main">
              <a:ext uri="{FF2B5EF4-FFF2-40B4-BE49-F238E27FC236}">
                <a16:creationId xmlns:a16="http://schemas.microsoft.com/office/drawing/2014/main" id="{59B8DC91-076B-4EA5-AEE7-8AC6DC7E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353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09  if ValidNormsAndPopulation(X, C, D_ref) then</a:t>
            </a:r>
          </a:p>
        </p:txBody>
      </p:sp>
      <p:sp>
        <p:nvSpPr>
          <p:cNvPr id="16" name="10      T &lt;- ComputeOrReadValidatedTScores(X,">
            <a:extLst xmlns:a="http://schemas.openxmlformats.org/drawingml/2006/main">
              <a:ext uri="{FF2B5EF4-FFF2-40B4-BE49-F238E27FC236}">
                <a16:creationId xmlns:a16="http://schemas.microsoft.com/office/drawing/2014/main" id="{89C91FC6-A5A4-40E8-87E4-74E5F616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356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10      T &lt;- ComputeOrReadValidatedTScores(X, D_ref)</a:t>
            </a:r>
          </a:p>
        </p:txBody>
      </p:sp>
      <p:sp>
        <p:nvSpPr>
          <p:cNvPr id="17" name="11      status, site &lt;- CheckClinicalRules(T,">
            <a:extLst xmlns:a="http://schemas.openxmlformats.org/drawingml/2006/main">
              <a:ext uri="{FF2B5EF4-FFF2-40B4-BE49-F238E27FC236}">
                <a16:creationId xmlns:a16="http://schemas.microsoft.com/office/drawing/2014/main" id="{C80C1890-117C-4F41-A507-36DE98B2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4360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11      status, site &lt;- CheckClinicalRules(T, KB)</a:t>
            </a:r>
          </a:p>
        </p:txBody>
      </p:sp>
      <p:sp>
        <p:nvSpPr>
          <p:cNvPr id="18" name="12  else">
            <a:extLst xmlns:a="http://schemas.openxmlformats.org/drawingml/2006/main">
              <a:ext uri="{FF2B5EF4-FFF2-40B4-BE49-F238E27FC236}">
                <a16:creationId xmlns:a16="http://schemas.microsoft.com/office/drawing/2014/main" id="{A8ACF1FF-B815-4938-82A6-28E28F6F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2363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12  else</a:t>
            </a:r>
          </a:p>
        </p:txBody>
      </p:sp>
      <p:sp>
        <p:nvSpPr>
          <p:cNvPr id="19" name="13      status, site &lt;- &quot;Needs clinical revie">
            <a:extLst xmlns:a="http://schemas.openxmlformats.org/drawingml/2006/main">
              <a:ext uri="{FF2B5EF4-FFF2-40B4-BE49-F238E27FC236}">
                <a16:creationId xmlns:a16="http://schemas.microsoft.com/office/drawing/2014/main" id="{9BEFF8CA-EA03-456D-8D8D-B1C72C1B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0367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13      status, site &lt;- "Needs clinical review", null</a:t>
            </a:r>
          </a:p>
        </p:txBody>
      </p:sp>
      <p:sp>
        <p:nvSpPr>
          <p:cNvPr id="20" name="14  end if">
            <a:extLst xmlns:a="http://schemas.openxmlformats.org/drawingml/2006/main">
              <a:ext uri="{FF2B5EF4-FFF2-40B4-BE49-F238E27FC236}">
                <a16:creationId xmlns:a16="http://schemas.microsoft.com/office/drawing/2014/main" id="{B96F3D56-0DA6-41B9-AB2B-FEA19DD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78370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14  end if</a:t>
            </a:r>
          </a:p>
        </p:txBody>
      </p:sp>
      <p:sp>
        <p:nvSpPr>
          <p:cNvPr id="21" name="15  tier, alert &lt;- RouteRisk(P_risk, status, ">
            <a:extLst xmlns:a="http://schemas.openxmlformats.org/drawingml/2006/main">
              <a:ext uri="{FF2B5EF4-FFF2-40B4-BE49-F238E27FC236}">
                <a16:creationId xmlns:a16="http://schemas.microsoft.com/office/drawing/2014/main" id="{A61FC4DE-D55E-4ED1-B19B-B81C3DC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63740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15  tier, alert &lt;- RouteRisk(P_risk, status, C)</a:t>
            </a:r>
          </a:p>
        </p:txBody>
      </p:sp>
      <p:sp>
        <p:nvSpPr>
          <p:cNvPr id="22" name="16  evidence &lt;- Retrieve(KB, tier, site, fact">
            <a:extLst xmlns:a="http://schemas.openxmlformats.org/drawingml/2006/main">
              <a:ext uri="{FF2B5EF4-FFF2-40B4-BE49-F238E27FC236}">
                <a16:creationId xmlns:a16="http://schemas.microsoft.com/office/drawing/2014/main" id="{709B5614-43BF-4DEC-87FA-18837AC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43775"/>
            <a:ext cx="1352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16  evidence &lt;- Retrieve(KB, tier, site, factors, Q)</a:t>
            </a:r>
          </a:p>
        </p:txBody>
      </p:sp>
    </p:spTree>
    <p:extLst>
      <p:ext uri="{BB962C8B-B14F-4D97-AF65-F5344CB8AC3E}">
        <p14:creationId xmlns:p14="http://schemas.microsoft.com/office/powerpoint/2010/main" val="12078606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13  Algorithm 1">
            <a:extLst xmlns:a="http://schemas.openxmlformats.org/drawingml/2006/main">
              <a:ext uri="{FF2B5EF4-FFF2-40B4-BE49-F238E27FC236}">
                <a16:creationId xmlns:a16="http://schemas.microsoft.com/office/drawing/2014/main" id="{23127997-11B4-40EE-A974-DD0D30C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13  Algorithm 1</a:t>
            </a:r>
          </a:p>
        </p:txBody>
      </p:sp>
      <p:sp>
        <p:nvSpPr>
          <p:cNvPr id="2" name="Pseudocode：知識整合、護欄與互動">
            <a:extLst xmlns:a="http://schemas.openxmlformats.org/drawingml/2006/main">
              <a:ext uri="{FF2B5EF4-FFF2-40B4-BE49-F238E27FC236}">
                <a16:creationId xmlns:a16="http://schemas.microsoft.com/office/drawing/2014/main" id="{0F647565-78E2-483B-8C2A-30EF6AC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Pseudocode：知識整合、護欄與互動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FC9F8-8332-4EA5-BEC0-22D34D8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D5EDAA6C-0F7B-4107-A33F-80A7233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4">
            <a:extLst xmlns:a="http://schemas.openxmlformats.org/drawingml/2006/main">
              <a:ext uri="{FF2B5EF4-FFF2-40B4-BE49-F238E27FC236}">
                <a16:creationId xmlns:a16="http://schemas.microsoft.com/office/drawing/2014/main" id="{1763D98B-1255-490C-B33B-D5F5817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sp>
        <p:nvSpPr>
          <p:cNvPr id="6" name="演算法續：以結構化工具結果與可追溯證據約束回覆">
            <a:extLst xmlns:a="http://schemas.openxmlformats.org/drawingml/2006/main">
              <a:ext uri="{FF2B5EF4-FFF2-40B4-BE49-F238E27FC236}">
                <a16:creationId xmlns:a16="http://schemas.microsoft.com/office/drawing/2014/main" id="{7120F762-F85B-4057-BBD5-B9AF668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3639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演算法續：以結構化工具結果與可追溯證據約束回覆</a:t>
            </a:r>
          </a:p>
        </p:txBody>
      </p:sp>
      <p:sp>
        <p:nvSpPr>
          <p:cNvPr id="7" name="17  constraints &lt;- ExerciseSafety(tier, C, ev">
            <a:extLst xmlns:a="http://schemas.openxmlformats.org/drawingml/2006/main">
              <a:ext uri="{FF2B5EF4-FFF2-40B4-BE49-F238E27FC236}">
                <a16:creationId xmlns:a16="http://schemas.microsoft.com/office/drawing/2014/main" id="{733FACAF-C601-46B3-ADA3-37FBAC6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17  constraints &lt;- ExerciseSafety(tier, C, evidence)</a:t>
            </a:r>
          </a:p>
        </p:txBody>
      </p:sp>
      <p:sp>
        <p:nvSpPr>
          <p:cNvPr id="8" name="18  nutrition &lt;- NutritionGuidance(C, evidenc">
            <a:extLst xmlns:a="http://schemas.openxmlformats.org/drawingml/2006/main">
              <a:ext uri="{FF2B5EF4-FFF2-40B4-BE49-F238E27FC236}">
                <a16:creationId xmlns:a16="http://schemas.microsoft.com/office/drawing/2014/main" id="{AF856294-9E7A-472C-B1D1-60BC35BD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18  nutrition &lt;- NutritionGuidance(C, evidence)</a:t>
            </a:r>
          </a:p>
        </p:txBody>
      </p:sp>
      <p:sp>
        <p:nvSpPr>
          <p:cNvPr id="9" name="19  context &lt;- Pack(P_risk, status, shap, evi">
            <a:extLst xmlns:a="http://schemas.openxmlformats.org/drawingml/2006/main">
              <a:ext uri="{FF2B5EF4-FFF2-40B4-BE49-F238E27FC236}">
                <a16:creationId xmlns:a16="http://schemas.microsoft.com/office/drawing/2014/main" id="{28030CBB-0831-4149-BAB0-5A79D3BA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19  context &lt;- Pack(P_risk, status, shap, evidence,</a:t>
            </a:r>
          </a:p>
        </p:txBody>
      </p:sp>
      <p:sp>
        <p:nvSpPr>
          <p:cNvPr id="10" name="20                  constraints, nutrition, Q">
            <a:extLst xmlns:a="http://schemas.openxmlformats.org/drawingml/2006/main">
              <a:ext uri="{FF2B5EF4-FFF2-40B4-BE49-F238E27FC236}">
                <a16:creationId xmlns:a16="http://schemas.microsoft.com/office/drawing/2014/main" id="{2FA9C1FE-7551-48CC-BEF2-87C78886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20                  constraints, nutrition, Q)</a:t>
            </a:r>
          </a:p>
        </p:txBody>
      </p:sp>
      <p:sp>
        <p:nvSpPr>
          <p:cNvPr id="11" name="21  candidate &lt;- AgentGenerate(context)">
            <a:extLst xmlns:a="http://schemas.openxmlformats.org/drawingml/2006/main">
              <a:ext uri="{FF2B5EF4-FFF2-40B4-BE49-F238E27FC236}">
                <a16:creationId xmlns:a16="http://schemas.microsoft.com/office/drawing/2014/main" id="{ECA883EB-F97C-419F-90E6-BA34FEBF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21  candidate &lt;- AgentGenerate(context)</a:t>
            </a:r>
          </a:p>
        </p:txBody>
      </p:sp>
      <p:sp>
        <p:nvSpPr>
          <p:cNvPr id="12" name="22  safe &lt;- CheckOutput(candidate, context)">
            <a:extLst xmlns:a="http://schemas.openxmlformats.org/drawingml/2006/main">
              <a:ext uri="{FF2B5EF4-FFF2-40B4-BE49-F238E27FC236}">
                <a16:creationId xmlns:a16="http://schemas.microsoft.com/office/drawing/2014/main" id="{D5B78420-7716-407F-AAE2-EE07E75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22  safe &lt;- CheckOutput(candidate, context)</a:t>
            </a:r>
          </a:p>
        </p:txBody>
      </p:sp>
      <p:sp>
        <p:nvSpPr>
          <p:cNvPr id="13" name="23  if not safe then">
            <a:extLst xmlns:a="http://schemas.openxmlformats.org/drawingml/2006/main">
              <a:ext uri="{FF2B5EF4-FFF2-40B4-BE49-F238E27FC236}">
                <a16:creationId xmlns:a16="http://schemas.microsoft.com/office/drawing/2014/main" id="{7C54A05A-2022-4E57-ACCE-8C088C9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23  if not safe then</a:t>
            </a:r>
          </a:p>
        </p:txBody>
      </p:sp>
      <p:sp>
        <p:nvSpPr>
          <p:cNvPr id="14" name="24      candidate &lt;- RepairOnceOrSafeFallback">
            <a:extLst xmlns:a="http://schemas.openxmlformats.org/drawingml/2006/main">
              <a:ext uri="{FF2B5EF4-FFF2-40B4-BE49-F238E27FC236}">
                <a16:creationId xmlns:a16="http://schemas.microsoft.com/office/drawing/2014/main" id="{0A724802-818D-4CED-83B7-CA2C263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24      candidate &lt;- RepairOnceOrSafeFallback(context)</a:t>
            </a:r>
          </a:p>
        </p:txBody>
      </p:sp>
      <p:sp>
        <p:nvSpPr>
          <p:cNvPr id="15" name="25  end if">
            <a:extLst xmlns:a="http://schemas.openxmlformats.org/drawingml/2006/main">
              <a:ext uri="{FF2B5EF4-FFF2-40B4-BE49-F238E27FC236}">
                <a16:creationId xmlns:a16="http://schemas.microsoft.com/office/drawing/2014/main" id="{52E8FE9F-6E1E-47B8-82F5-A81A109C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25  end if</a:t>
            </a:r>
          </a:p>
        </p:txBody>
      </p:sp>
      <p:sp>
        <p:nvSpPr>
          <p:cNvPr id="16" name="26  R &lt;- FormatReport(candidate, context)">
            <a:extLst xmlns:a="http://schemas.openxmlformats.org/drawingml/2006/main">
              <a:ext uri="{FF2B5EF4-FFF2-40B4-BE49-F238E27FC236}">
                <a16:creationId xmlns:a16="http://schemas.microsoft.com/office/drawing/2014/main" id="{ABB4B548-10F1-4896-8D2C-BF4B68E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26  R &lt;- FormatReport(candidate, context)</a:t>
            </a:r>
          </a:p>
        </p:txBody>
      </p:sp>
      <p:sp>
        <p:nvSpPr>
          <p:cNvPr id="17" name="27  PresentOnStreamlit(R)">
            <a:extLst xmlns:a="http://schemas.openxmlformats.org/drawingml/2006/main">
              <a:ext uri="{FF2B5EF4-FFF2-40B4-BE49-F238E27FC236}">
                <a16:creationId xmlns:a16="http://schemas.microsoft.com/office/drawing/2014/main" id="{1942B569-FCD8-42EC-B16A-40FCE64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27  PresentOnStreamlit(R)</a:t>
            </a:r>
          </a:p>
        </p:txBody>
      </p:sp>
      <p:sp>
        <p:nvSpPr>
          <p:cNvPr id="18" name="28  while HasFollowUp() do">
            <a:extLst xmlns:a="http://schemas.openxmlformats.org/drawingml/2006/main">
              <a:ext uri="{FF2B5EF4-FFF2-40B4-BE49-F238E27FC236}">
                <a16:creationId xmlns:a16="http://schemas.microsoft.com/office/drawing/2014/main" id="{0BE7EBA4-A292-4313-AD07-EB63436C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28  while HasFollowUp() do</a:t>
            </a:r>
          </a:p>
        </p:txBody>
      </p:sp>
      <p:sp>
        <p:nvSpPr>
          <p:cNvPr id="19" name="29      Q, changed &lt;- ReceiveFollowUp()">
            <a:extLst xmlns:a="http://schemas.openxmlformats.org/drawingml/2006/main">
              <a:ext uri="{FF2B5EF4-FFF2-40B4-BE49-F238E27FC236}">
                <a16:creationId xmlns:a16="http://schemas.microsoft.com/office/drawing/2014/main" id="{85B5C025-7368-414C-8ACE-3392D3C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770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29      Q, changed &lt;- ReceiveFollowUp()</a:t>
            </a:r>
          </a:p>
        </p:txBody>
      </p:sp>
      <p:sp>
        <p:nvSpPr>
          <p:cNvPr id="20" name="30      if changed then goto 02 else goto 16">
            <a:extLst xmlns:a="http://schemas.openxmlformats.org/drawingml/2006/main">
              <a:ext uri="{FF2B5EF4-FFF2-40B4-BE49-F238E27FC236}">
                <a16:creationId xmlns:a16="http://schemas.microsoft.com/office/drawing/2014/main" id="{E89AD4AC-DA50-4F31-941F-AEFE20E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7627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30      if changed then goto 02 else goto 16</a:t>
            </a:r>
          </a:p>
        </p:txBody>
      </p:sp>
      <p:sp>
        <p:nvSpPr>
          <p:cNvPr id="21" name="31  end while">
            <a:extLst xmlns:a="http://schemas.openxmlformats.org/drawingml/2006/main">
              <a:ext uri="{FF2B5EF4-FFF2-40B4-BE49-F238E27FC236}">
                <a16:creationId xmlns:a16="http://schemas.microsoft.com/office/drawing/2014/main" id="{84B92AAE-9239-4F08-BAD2-A9917B1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31  end while</a:t>
            </a:r>
          </a:p>
        </p:txBody>
      </p:sp>
      <p:sp>
        <p:nvSpPr>
          <p:cNvPr id="22" name="32  return R">
            <a:extLst xmlns:a="http://schemas.openxmlformats.org/drawingml/2006/main">
              <a:ext uri="{FF2B5EF4-FFF2-40B4-BE49-F238E27FC236}">
                <a16:creationId xmlns:a16="http://schemas.microsoft.com/office/drawing/2014/main" id="{1E768B5F-D16F-4BC9-8900-804B072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342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defPPr>
            <a:lvl1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1pPr>
            <a:lvl2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2pPr>
            <a:lvl3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3pPr>
            <a:lvl4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4pPr>
            <a:lvl5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5pPr>
            <a:lvl6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6pPr>
            <a:lvl7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7pPr>
            <a:lvl8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8pPr>
            <a:lvl9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53E"/>
                </a:solidFill>
                <a:latin typeface="Menlo"/>
                <a:ea typeface="Menlo"/>
                <a:cs typeface="Menlo"/>
              </a:rPr>
              <a:t>32  return R</a:t>
            </a:r>
          </a:p>
        </p:txBody>
      </p:sp>
    </p:spTree>
    <p:extLst>
      <p:ext uri="{BB962C8B-B14F-4D97-AF65-F5344CB8AC3E}">
        <p14:creationId xmlns:p14="http://schemas.microsoft.com/office/powerpoint/2010/main" val="18223213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4  Evaluation Plan">
            <a:extLst xmlns:a="http://schemas.openxmlformats.org/drawingml/2006/main">
              <a:ext uri="{FF2B5EF4-FFF2-40B4-BE49-F238E27FC236}">
                <a16:creationId xmlns:a16="http://schemas.microsoft.com/office/drawing/2014/main" id="{36BBAB03-1E76-4295-998D-E3B6F63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14  Evaluation Plan</a:t>
            </a:r>
          </a:p>
        </p:txBody>
      </p:sp>
      <p:sp>
        <p:nvSpPr>
          <p:cNvPr id="2" name="實驗設計：標籤定義與資料洩漏控制">
            <a:extLst xmlns:a="http://schemas.openxmlformats.org/drawingml/2006/main">
              <a:ext uri="{FF2B5EF4-FFF2-40B4-BE49-F238E27FC236}">
                <a16:creationId xmlns:a16="http://schemas.microsoft.com/office/drawing/2014/main" id="{6811E695-E7E2-41C8-9ED5-EFC7D7BA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實驗設計：標籤定義與資料洩漏控制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182C9-5AE0-4A0F-BF28-D6098DC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F85B760B-07BF-403D-83F4-38DD263E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F032B923-9F34-486F-9165-41CA34C0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sp>
        <p:nvSpPr>
          <p:cNvPr id="6" name="主要任務：骨密度風險分級與衛教支援">
            <a:extLst xmlns:a="http://schemas.openxmlformats.org/drawingml/2006/main">
              <a:ext uri="{FF2B5EF4-FFF2-40B4-BE49-F238E27FC236}">
                <a16:creationId xmlns:a16="http://schemas.microsoft.com/office/drawing/2014/main" id="{1EF4100F-90F3-460C-A65F-B35712E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主要任務：骨密度風險分級與衛教支援</a:t>
            </a:r>
          </a:p>
        </p:txBody>
      </p:sp>
      <p:sp>
        <p:nvSpPr>
          <p:cNvPr id="7" name="先確認 T-score 常模、適用族群與標籤定義，再固定資料切分與比較條件。">
            <a:extLst xmlns:a="http://schemas.openxmlformats.org/drawingml/2006/main">
              <a:ext uri="{FF2B5EF4-FFF2-40B4-BE49-F238E27FC236}">
                <a16:creationId xmlns:a16="http://schemas.microsoft.com/office/drawing/2014/main" id="{A5041D13-1D67-4BF1-AA8E-8AC7C0B4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先確認 T-score 常模、適用族群與標籤定義，再固定資料切分與比較條件。</a:t>
            </a:r>
          </a:p>
        </p:txBody>
      </p:sp>
      <p:sp>
        <p:nvSpPr>
          <p:cNvPr id="8" name="防止規則重現被誤認為未來預測">
            <a:extLst xmlns:a="http://schemas.openxmlformats.org/drawingml/2006/main">
              <a:ext uri="{FF2B5EF4-FFF2-40B4-BE49-F238E27FC236}">
                <a16:creationId xmlns:a16="http://schemas.microsoft.com/office/drawing/2014/main" id="{C2107B3B-B583-4BAD-9A60-8D6A8CB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防止規則重現被誤認為未來預測</a:t>
            </a:r>
          </a:p>
        </p:txBody>
      </p:sp>
      <p:sp>
        <p:nvSpPr>
          <p:cNvPr id="9" name="若標籤來自同次 BMD，應以規則分級作對照，將效能解讀限定於該分類任務。">
            <a:extLst xmlns:a="http://schemas.openxmlformats.org/drawingml/2006/main">
              <a:ext uri="{FF2B5EF4-FFF2-40B4-BE49-F238E27FC236}">
                <a16:creationId xmlns:a16="http://schemas.microsoft.com/office/drawing/2014/main" id="{8D697C05-93DD-4196-9B18-67FFA55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若標籤來自同次 BMD，應以規則分級作對照，將效能解讀限定於該分類任務。</a:t>
            </a:r>
          </a:p>
        </p:txBody>
      </p:sp>
      <p:sp>
        <p:nvSpPr>
          <p:cNvPr id="10" name="訓練與驗證隔離">
            <a:extLst xmlns:a="http://schemas.openxmlformats.org/drawingml/2006/main">
              <a:ext uri="{FF2B5EF4-FFF2-40B4-BE49-F238E27FC236}">
                <a16:creationId xmlns:a16="http://schemas.microsoft.com/office/drawing/2014/main" id="{617841BD-1C96-4F23-AC8F-ED99BC5E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訓練與驗證隔離</a:t>
            </a:r>
          </a:p>
        </p:txBody>
      </p:sp>
      <p:sp>
        <p:nvSpPr>
          <p:cNvPr id="11" name="依受試者切分，採分層 K-fold；補值、標準化、特徵選擇及閾值調整限於訓練資料。">
            <a:extLst xmlns:a="http://schemas.openxmlformats.org/drawingml/2006/main">
              <a:ext uri="{FF2B5EF4-FFF2-40B4-BE49-F238E27FC236}">
                <a16:creationId xmlns:a16="http://schemas.microsoft.com/office/drawing/2014/main" id="{1819D6DD-9FCA-4FA9-B8DF-6AA9452B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依受試者切分，採分層 K-fold；補值、標準化、特徵選擇及閾值調整限於訓練資料。</a:t>
            </a:r>
          </a:p>
        </p:txBody>
      </p:sp>
      <p:sp>
        <p:nvSpPr>
          <p:cNvPr id="12" name="進一步驗證">
            <a:extLst xmlns:a="http://schemas.openxmlformats.org/drawingml/2006/main">
              <a:ext uri="{FF2B5EF4-FFF2-40B4-BE49-F238E27FC236}">
                <a16:creationId xmlns:a16="http://schemas.microsoft.com/office/drawing/2014/main" id="{C48CF5CE-EA6B-4A1B-BDCD-D7CA6E32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7900"/>
            <a:ext cx="1363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進一步驗證</a:t>
            </a:r>
          </a:p>
        </p:txBody>
      </p:sp>
      <p:sp>
        <p:nvSpPr>
          <p:cNvPr id="13" name="比較單一股骨頸與多部位特徵，檢查共線性、校準與子群表現，另保留測試集。">
            <a:extLst xmlns:a="http://schemas.openxmlformats.org/drawingml/2006/main">
              <a:ext uri="{FF2B5EF4-FFF2-40B4-BE49-F238E27FC236}">
                <a16:creationId xmlns:a16="http://schemas.microsoft.com/office/drawing/2014/main" id="{77BE2F42-459C-4EB5-B16E-8392A43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34150"/>
            <a:ext cx="1363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比較單一股骨頸與多部位特徵，檢查共線性、校準與子群表現，另保留測試集。</a:t>
            </a:r>
          </a:p>
        </p:txBody>
      </p:sp>
    </p:spTree>
    <p:extLst>
      <p:ext uri="{BB962C8B-B14F-4D97-AF65-F5344CB8AC3E}">
        <p14:creationId xmlns:p14="http://schemas.microsoft.com/office/powerpoint/2010/main" val="5953226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4  Evaluation Plan">
            <a:extLst xmlns:a="http://schemas.openxmlformats.org/drawingml/2006/main">
              <a:ext uri="{FF2B5EF4-FFF2-40B4-BE49-F238E27FC236}">
                <a16:creationId xmlns:a16="http://schemas.microsoft.com/office/drawing/2014/main" id="{E4B0C314-BE8B-4FA6-9D1F-2CC98DAE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14  Evaluation Plan</a:t>
            </a:r>
          </a:p>
        </p:txBody>
      </p:sp>
      <p:sp>
        <p:nvSpPr>
          <p:cNvPr id="2" name="評估指標與比較設計">
            <a:extLst xmlns:a="http://schemas.openxmlformats.org/drawingml/2006/main">
              <a:ext uri="{FF2B5EF4-FFF2-40B4-BE49-F238E27FC236}">
                <a16:creationId xmlns:a16="http://schemas.microsoft.com/office/drawing/2014/main" id="{FE789478-C01E-4BF7-9812-1CB338A1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評估指標與比較設計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B117E-A16D-4B4C-A8CE-F1ED89D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C977385E-96E7-4D8F-862D-0E0B6DFE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8550DE4C-B60F-4F8F-8CEC-28732A14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D761C-C3B4-42F9-9F18-AE548B00E7DA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09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3530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評估層次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比較方式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指標與證據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預測模型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LR、RF、XGBoost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採相同資料與驗證切分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Accuracy、Precision、Recall、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F1、ROC-AUC，並檢查校準。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特徵與解釋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單部位 vs. 多部位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原始特徵 vs. 加入比例特徵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SHAP 全域／個案解釋，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分析共線性與歸因穩定性。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Agent 與知識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固定衛教模板 vs. 完整 Agent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有／無 RAG 或安全檢核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引用正確率、規則一致率、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不安全建議比例與工具成功率。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端到端應用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低、中、高風險與異常情境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以人工檢核表評分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回覆完整性、白話可讀性、</a:t>
                      </a:r>
                    </a:p>
                    <a:p>
                      <a:r>
                        <a:rPr sz="2025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轉介提示、失敗處理與延遲。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7" name="K-fold 可先規劃 5 折。額外 Agent 比較與校準檢查為提案的驗證補強，尚未執行">
            <a:extLst xmlns:a="http://schemas.openxmlformats.org/drawingml/2006/main">
              <a:ext uri="{FF2B5EF4-FFF2-40B4-BE49-F238E27FC236}">
                <a16:creationId xmlns:a16="http://schemas.microsoft.com/office/drawing/2014/main" id="{BBC849D2-9742-4C6D-B1B0-1C92772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9142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K-fold 可先規劃 5 折。額外 Agent 比較與校準檢查為提案的驗證補強，尚未執行。</a:t>
            </a:r>
          </a:p>
        </p:txBody>
      </p:sp>
    </p:spTree>
    <p:extLst>
      <p:ext uri="{BB962C8B-B14F-4D97-AF65-F5344CB8AC3E}">
        <p14:creationId xmlns:p14="http://schemas.microsoft.com/office/powerpoint/2010/main" val="9469979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14  Evaluation Plan">
            <a:extLst xmlns:a="http://schemas.openxmlformats.org/drawingml/2006/main">
              <a:ext uri="{FF2B5EF4-FFF2-40B4-BE49-F238E27FC236}">
                <a16:creationId xmlns:a16="http://schemas.microsoft.com/office/drawing/2014/main" id="{F899CB3E-B874-4649-A3DE-B242344A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14  Evaluation Plan</a:t>
            </a:r>
          </a:p>
        </p:txBody>
      </p:sp>
      <p:sp>
        <p:nvSpPr>
          <p:cNvPr id="2" name="Case Study：正常、臨界與失敗情境">
            <a:extLst xmlns:a="http://schemas.openxmlformats.org/drawingml/2006/main">
              <a:ext uri="{FF2B5EF4-FFF2-40B4-BE49-F238E27FC236}">
                <a16:creationId xmlns:a16="http://schemas.microsoft.com/office/drawing/2014/main" id="{06F33879-DB58-4F81-A37E-CA50987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Case Study：正常、臨界與失敗情境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C56F4-789E-4867-AB34-793D604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CFEE0C20-9018-420D-A26C-BD492F8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6884B40D-B275-464C-9FF0-E79BFE7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43ED0-67AA-4BD9-95B0-2A09C5D13444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5162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6334125"/>
                <a:gridCol w="3638550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案例輸入／情境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預期系統行為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查核重點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1358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低風險或正常分類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呈現數值與解釋，提供日常骨骼保養。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低分數不等於零骨折風險。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358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低骨量或分類臨界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提示不確定性，整合生活情境與追蹤建議。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模型與臨床分級分開呈現。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1358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高風險且想跳繩、補高劑量鈣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先問骨折史、跌倒、活動能力與總攝取量，</a:t>
                      </a:r>
                    </a:p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再給個別化運動與營養衛教／轉介。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不僅憑單一分級開立運動強度</a:t>
                      </a:r>
                    </a:p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或固定補充劑量。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358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掃描異常、缺值或查無證據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提示補件，或採有限衛教與人工複核。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不編造數值、引用或機率。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394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5  Implementation Plan">
            <a:extLst xmlns:a="http://schemas.openxmlformats.org/drawingml/2006/main">
              <a:ext uri="{FF2B5EF4-FFF2-40B4-BE49-F238E27FC236}">
                <a16:creationId xmlns:a16="http://schemas.microsoft.com/office/drawing/2014/main" id="{4B62726A-D851-4CED-91DD-9B0FC56E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15  Implementation Plan</a:t>
            </a:r>
          </a:p>
        </p:txBody>
      </p:sp>
      <p:sp>
        <p:nvSpPr>
          <p:cNvPr id="2" name="技術可行性與分階段實作">
            <a:extLst xmlns:a="http://schemas.openxmlformats.org/drawingml/2006/main">
              <a:ext uri="{FF2B5EF4-FFF2-40B4-BE49-F238E27FC236}">
                <a16:creationId xmlns:a16="http://schemas.microsoft.com/office/drawing/2014/main" id="{AA6E4397-D43F-4945-BCE7-7575FE3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技術可行性與分階段實作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C4BD6-FD6F-400B-A15A-B2A85FC3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03135D7A-B1F0-4106-9A39-B7116A7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8">
            <a:extLst xmlns:a="http://schemas.openxmlformats.org/drawingml/2006/main">
              <a:ext uri="{FF2B5EF4-FFF2-40B4-BE49-F238E27FC236}">
                <a16:creationId xmlns:a16="http://schemas.microsoft.com/office/drawing/2014/main" id="{245D0EFC-E38B-4F60-A182-177DA46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61395-0604-42CD-B8AC-E12739A417C5}"/>
              </a:ext>
            </a:extLst>
          </p:cNvPr>
          <p:cNvGraphicFramePr/>
          <p:nvPr/>
        </p:nvGraphicFramePr>
        <p:xfrm>
          <a:off xmlns:a="http://schemas.openxmlformats.org/drawingml/2006/main" x="800100" y="2238375"/>
          <a:ext xmlns:a="http://schemas.openxmlformats.org/drawingml/2006/main" cx="136398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238875"/>
                <a:gridCol w="4543425"/>
              </a:tblGrid>
              <a:tr h="6191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可檢核產物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T w="9525">
                      <a:solidFill>
                        <a:srgbClr val="C7D9D9"/>
                      </a:solidFill>
                      <a:prstDash val="solid"/>
                    </a:lnT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123C47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M1　資料與定義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下載資料、品質篩選、定義常模與標籤。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資料字典、EDA、篩選紀錄。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M2　模型基準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建立 LR／RF／XGB 訓練與驗證流程。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固定切分、模型比較與誤差分析。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M3　Agent 整合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接上模型、SHAP、知識檢索與安全規則。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版本化工具介面、案例測試紀錄。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59656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M4　應用與交付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9D9"/>
                      </a:solidFill>
                      <a:prstDash val="solid"/>
                    </a:lnL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完成 Streamlit、多輪問答與端到端評估。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53E"/>
                          </a:solidFill>
                          <a:latin typeface="Heiti TC"/>
                          <a:ea typeface="Heiti TC"/>
                          <a:cs typeface="Heiti TC"/>
                        </a:rPr>
                        <a:t>可執行原型、Demo、實驗與文件。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9D9"/>
                      </a:solidFill>
                      <a:prstDash val="solid"/>
                    </a:lnR>
                    <a:lnB w="9525">
                      <a:solidFill>
                        <a:srgbClr val="C7D9D9"/>
                      </a:solidFill>
                      <a:prstDash val="solid"/>
                    </a:lnB>
                    <a:solidFill>
                      <a:srgbClr val="E8F3EF"/>
                    </a:solidFill>
                  </a:tcPr>
                </a:tc>
              </a:tr>
            </a:tbl>
          </a:graphicData>
        </a:graphic>
      </p:graphicFrame>
      <p:sp>
        <p:nvSpPr>
          <p:cNvPr id="7" name="交付維護：GitHub、README.md 與 DESIGN.md，記錄模組、資料流、執行">
            <a:extLst xmlns:a="http://schemas.openxmlformats.org/drawingml/2006/main">
              <a:ext uri="{FF2B5EF4-FFF2-40B4-BE49-F238E27FC236}">
                <a16:creationId xmlns:a16="http://schemas.microsoft.com/office/drawing/2014/main" id="{8E9D668B-CC3A-4DBF-A6FB-F0484108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91400"/>
            <a:ext cx="1363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交付維護：GitHub、README.md 與 DESIGN.md，記錄模組、資料流、執行與驗證方式</a:t>
            </a:r>
          </a:p>
        </p:txBody>
      </p:sp>
    </p:spTree>
    <p:extLst>
      <p:ext uri="{BB962C8B-B14F-4D97-AF65-F5344CB8AC3E}">
        <p14:creationId xmlns:p14="http://schemas.microsoft.com/office/powerpoint/2010/main" val="5926502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6  Expected Outcomes">
            <a:extLst xmlns:a="http://schemas.openxmlformats.org/drawingml/2006/main">
              <a:ext uri="{FF2B5EF4-FFF2-40B4-BE49-F238E27FC236}">
                <a16:creationId xmlns:a16="http://schemas.microsoft.com/office/drawing/2014/main" id="{45C2EBF9-780C-4AA1-8632-37B41F9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16  Expected Outcomes</a:t>
            </a:r>
          </a:p>
        </p:txBody>
      </p:sp>
      <p:sp>
        <p:nvSpPr>
          <p:cNvPr id="2" name="預期成果與研究限制">
            <a:extLst xmlns:a="http://schemas.openxmlformats.org/drawingml/2006/main">
              <a:ext uri="{FF2B5EF4-FFF2-40B4-BE49-F238E27FC236}">
                <a16:creationId xmlns:a16="http://schemas.microsoft.com/office/drawing/2014/main" id="{6906EF49-A5D3-4C91-AE62-24A8224B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預期成果與研究限制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3285F-F90D-4F27-9DC6-6120397E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F07F67BB-B290-45FE-BFD8-8EE8ADFC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20CD9645-CA3E-426D-81D9-34FB940F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sp>
        <p:nvSpPr>
          <p:cNvPr id="6" name="預期成果">
            <a:extLst xmlns:a="http://schemas.openxmlformats.org/drawingml/2006/main">
              <a:ext uri="{FF2B5EF4-FFF2-40B4-BE49-F238E27FC236}">
                <a16:creationId xmlns:a16="http://schemas.microsoft.com/office/drawing/2014/main" id="{989D4C1D-3843-4D33-8BA9-B2C50F72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預期成果</a:t>
            </a:r>
          </a:p>
        </p:txBody>
      </p:sp>
      <p:sp>
        <p:nvSpPr>
          <p:cNvPr id="7" name="多部位 DXA 資料分析與模型基準。&#10;&#10;對應模型的 SHAP 白話解釋。&#10;&#10;有證據與限制的">
            <a:extLst xmlns:a="http://schemas.openxmlformats.org/drawingml/2006/main">
              <a:ext uri="{FF2B5EF4-FFF2-40B4-BE49-F238E27FC236}">
                <a16:creationId xmlns:a16="http://schemas.microsoft.com/office/drawing/2014/main" id="{72D8EFEA-C005-4B8F-8498-86CF35C3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多部位 DXA 資料分析與模型基準。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對應模型的 SHAP 白話解釋。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有證據與限制的運動／營養衛教。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可追問的 Streamlit 決策支援原型。</a:t>
            </a:r>
          </a:p>
        </p:txBody>
      </p:sp>
      <p:sp>
        <p:nvSpPr>
          <p:cNvPr id="8" name="研究限制">
            <a:extLst xmlns:a="http://schemas.openxmlformats.org/drawingml/2006/main">
              <a:ext uri="{FF2B5EF4-FFF2-40B4-BE49-F238E27FC236}">
                <a16:creationId xmlns:a16="http://schemas.microsoft.com/office/drawing/2014/main" id="{BCF7485A-203F-4000-AA3B-86EFC2EB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6486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研究限制</a:t>
            </a:r>
          </a:p>
        </p:txBody>
      </p:sp>
      <p:sp>
        <p:nvSpPr>
          <p:cNvPr id="9" name="尚無實驗分數或臨床成效。&#10;&#10;NHANES 美國樣本的台灣外部效度待驗。&#10;&#10;沒有前瞻骨折結局">
            <a:extLst xmlns:a="http://schemas.openxmlformats.org/drawingml/2006/main">
              <a:ext uri="{FF2B5EF4-FFF2-40B4-BE49-F238E27FC236}">
                <a16:creationId xmlns:a16="http://schemas.microsoft.com/office/drawing/2014/main" id="{5C368D31-9B3A-4E0C-8D01-3E3ECEA3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64865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尚無實驗分數或臨床成效。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NHANES 美國樣本的台灣外部效度待驗。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沒有前瞻骨折結局時，</a:t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無法驗證未來骨折機率預測。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不以系統回覆取代臨床確診。</a:t>
            </a:r>
          </a:p>
        </p:txBody>
      </p:sp>
      <p:sp>
        <p:nvSpPr>
          <p:cNvPr id="10" name="研究重點：驗證完整工作流是否能提供準確、可理解且可追溯的健康管理支援">
            <a:extLst xmlns:a="http://schemas.openxmlformats.org/drawingml/2006/main">
              <a:ext uri="{FF2B5EF4-FFF2-40B4-BE49-F238E27FC236}">
                <a16:creationId xmlns:a16="http://schemas.microsoft.com/office/drawing/2014/main" id="{DDC452F2-93AD-463B-8344-C0A3E1F2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96175"/>
            <a:ext cx="13639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研究重點：驗證完整工作流是否能提供準確、可理解且可追溯的健康管理支援</a:t>
            </a:r>
          </a:p>
        </p:txBody>
      </p:sp>
    </p:spTree>
    <p:extLst>
      <p:ext uri="{BB962C8B-B14F-4D97-AF65-F5344CB8AC3E}">
        <p14:creationId xmlns:p14="http://schemas.microsoft.com/office/powerpoint/2010/main" val="9108447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17  References">
            <a:extLst xmlns:a="http://schemas.openxmlformats.org/drawingml/2006/main">
              <a:ext uri="{FF2B5EF4-FFF2-40B4-BE49-F238E27FC236}">
                <a16:creationId xmlns:a16="http://schemas.microsoft.com/office/drawing/2014/main" id="{06CFCD59-8143-4522-8348-E81C147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17  References</a:t>
            </a:r>
          </a:p>
        </p:txBody>
      </p:sp>
      <p:sp>
        <p:nvSpPr>
          <p:cNvPr id="2" name="References：資料與臨床依據">
            <a:extLst xmlns:a="http://schemas.openxmlformats.org/drawingml/2006/main">
              <a:ext uri="{FF2B5EF4-FFF2-40B4-BE49-F238E27FC236}">
                <a16:creationId xmlns:a16="http://schemas.microsoft.com/office/drawing/2014/main" id="{E0BC2A39-D14F-41B5-924A-A5452275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References：資料與臨床依據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89533-5764-4EE3-A8F4-6C09B28B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95321005-AF4D-4851-BA7F-21DA661C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82FD6653-2357-4F8D-AD22-278E675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6" name="[1] CDC / NCHS（2021）">
            <a:extLst xmlns:a="http://schemas.openxmlformats.org/drawingml/2006/main">
              <a:ext uri="{FF2B5EF4-FFF2-40B4-BE49-F238E27FC236}">
                <a16:creationId xmlns:a16="http://schemas.microsoft.com/office/drawing/2014/main" id="{751C6DF2-F3C9-48BA-922C-FF1202C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[1] CDC / NCHS（2021）</a:t>
            </a:r>
          </a:p>
        </p:txBody>
      </p:sp>
      <p:sp>
        <p:nvSpPr>
          <p:cNvPr id="7" name="NHANES 2017–March 2020，DXA Femur（P_DXXFEM）">
            <a:extLst xmlns:a="http://schemas.openxmlformats.org/drawingml/2006/main">
              <a:ext uri="{FF2B5EF4-FFF2-40B4-BE49-F238E27FC236}">
                <a16:creationId xmlns:a16="http://schemas.microsoft.com/office/drawing/2014/main" id="{9B5EA740-B6A7-4B69-BF21-5FC506E1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363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NHANES 2017–March 2020，DXA Femur（P_DXXFEM）</a:t>
            </a:r>
          </a:p>
        </p:txBody>
      </p:sp>
      <p:sp>
        <p:nvSpPr>
          <p:cNvPr id="8" name="https://wwwn.cdc.gov/Nchs/Data/Nhanes/Public/">
            <a:extLst xmlns:a="http://schemas.openxmlformats.org/drawingml/2006/main">
              <a:ext uri="{FF2B5EF4-FFF2-40B4-BE49-F238E27FC236}">
                <a16:creationId xmlns:a16="http://schemas.microsoft.com/office/drawing/2014/main" id="{FE85B703-34CD-4CA2-A347-BC4A6A9F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363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3738920249041f3"/>
              </a:rPr>
              <a:t>https://wwwn.cdc.gov/Nchs/Data/Nhanes/Public/2017/DataFiles/P_DXXFEM.htm</a:t>
            </a:r>
          </a:p>
        </p:txBody>
      </p:sp>
      <p:sp>
        <p:nvSpPr>
          <p:cNvPr id="9" name="[2] Kanis et al.（2019）">
            <a:extLst xmlns:a="http://schemas.openxmlformats.org/drawingml/2006/main">
              <a:ext uri="{FF2B5EF4-FFF2-40B4-BE49-F238E27FC236}">
                <a16:creationId xmlns:a16="http://schemas.microsoft.com/office/drawing/2014/main" id="{96321B29-BD89-4718-AC92-09CB8B8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[2] Kanis et al.（2019）</a:t>
            </a:r>
          </a:p>
        </p:txBody>
      </p:sp>
      <p:sp>
        <p:nvSpPr>
          <p:cNvPr id="10" name="European guidance for the diagnosis and manag">
            <a:extLst xmlns:a="http://schemas.openxmlformats.org/drawingml/2006/main">
              <a:ext uri="{FF2B5EF4-FFF2-40B4-BE49-F238E27FC236}">
                <a16:creationId xmlns:a16="http://schemas.microsoft.com/office/drawing/2014/main" id="{42071E03-85FD-4FAF-ABD7-BB54C992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363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European guidance for the diagnosis and management of osteoporosis in postmenopausal women</a:t>
            </a:r>
          </a:p>
        </p:txBody>
      </p:sp>
      <p:sp>
        <p:nvSpPr>
          <p:cNvPr id="11" name="https://doi.org/10.1007/s00198-018-4704-5">
            <a:extLst xmlns:a="http://schemas.openxmlformats.org/drawingml/2006/main">
              <a:ext uri="{FF2B5EF4-FFF2-40B4-BE49-F238E27FC236}">
                <a16:creationId xmlns:a16="http://schemas.microsoft.com/office/drawing/2014/main" id="{1B2C3C78-5E87-4A55-AB81-2E9ED8DC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1363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f36dea91eb149a9"/>
              </a:rPr>
              <a:t>https://doi.org/10.1007/s00198-018-4704-5</a:t>
            </a:r>
          </a:p>
        </p:txBody>
      </p:sp>
      <p:sp>
        <p:nvSpPr>
          <p:cNvPr id="12" name="[3] LeBoff et al.（2022）">
            <a:extLst xmlns:a="http://schemas.openxmlformats.org/drawingml/2006/main">
              <a:ext uri="{FF2B5EF4-FFF2-40B4-BE49-F238E27FC236}">
                <a16:creationId xmlns:a16="http://schemas.microsoft.com/office/drawing/2014/main" id="{F43F211F-2BFA-48F3-8E4D-784267EA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[3] LeBoff et al.（2022）</a:t>
            </a:r>
          </a:p>
        </p:txBody>
      </p:sp>
      <p:sp>
        <p:nvSpPr>
          <p:cNvPr id="13" name="The clinician’s guide to prevention and treat">
            <a:extLst xmlns:a="http://schemas.openxmlformats.org/drawingml/2006/main">
              <a:ext uri="{FF2B5EF4-FFF2-40B4-BE49-F238E27FC236}">
                <a16:creationId xmlns:a16="http://schemas.microsoft.com/office/drawing/2014/main" id="{873C4016-E0A2-442A-9DE8-D6D501BA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363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The clinician’s guide to prevention and treatment of osteoporosis</a:t>
            </a:r>
          </a:p>
        </p:txBody>
      </p:sp>
      <p:sp>
        <p:nvSpPr>
          <p:cNvPr id="14" name="https://doi.org/10.1007/s00198-021-05900-y">
            <a:extLst xmlns:a="http://schemas.openxmlformats.org/drawingml/2006/main">
              <a:ext uri="{FF2B5EF4-FFF2-40B4-BE49-F238E27FC236}">
                <a16:creationId xmlns:a16="http://schemas.microsoft.com/office/drawing/2014/main" id="{65A867C9-0C02-4503-A033-1388994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1363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1e0e53476244907"/>
              </a:rPr>
              <a:t>https://doi.org/10.1007/s00198-021-05900-y</a:t>
            </a:r>
          </a:p>
        </p:txBody>
      </p:sp>
      <p:sp>
        <p:nvSpPr>
          <p:cNvPr id="15" name="[6] Brooke-Wavell et al.（2022）">
            <a:extLst xmlns:a="http://schemas.openxmlformats.org/drawingml/2006/main">
              <a:ext uri="{FF2B5EF4-FFF2-40B4-BE49-F238E27FC236}">
                <a16:creationId xmlns:a16="http://schemas.microsoft.com/office/drawing/2014/main" id="{687CE3DB-26C0-4EB1-B6FE-DEB63EC0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[6] Brooke-Wavell et al.（2022）</a:t>
            </a:r>
          </a:p>
        </p:txBody>
      </p:sp>
      <p:sp>
        <p:nvSpPr>
          <p:cNvPr id="16" name="Strong, steady and straight: UK consensus sta">
            <a:extLst xmlns:a="http://schemas.openxmlformats.org/drawingml/2006/main">
              <a:ext uri="{FF2B5EF4-FFF2-40B4-BE49-F238E27FC236}">
                <a16:creationId xmlns:a16="http://schemas.microsoft.com/office/drawing/2014/main" id="{FDD186C6-0112-45DB-9B22-393FE165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363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Strong, steady and straight: UK consensus statement on physical activity and exercise for osteoporosis</a:t>
            </a:r>
          </a:p>
        </p:txBody>
      </p:sp>
      <p:sp>
        <p:nvSpPr>
          <p:cNvPr id="17" name="https://doi.org/10.1136/bjsports-2021-104634">
            <a:extLst xmlns:a="http://schemas.openxmlformats.org/drawingml/2006/main">
              <a:ext uri="{FF2B5EF4-FFF2-40B4-BE49-F238E27FC236}">
                <a16:creationId xmlns:a16="http://schemas.microsoft.com/office/drawing/2014/main" id="{C1951E45-7DBF-4A7E-B467-142357DB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62675"/>
            <a:ext cx="1363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ddcb5eff80943d8"/>
              </a:rPr>
              <a:t>https://doi.org/10.1136/bjsports-2021-104634</a:t>
            </a:r>
          </a:p>
        </p:txBody>
      </p:sp>
      <p:sp>
        <p:nvSpPr>
          <p:cNvPr id="18" name="[7] ISCD（2023）">
            <a:extLst xmlns:a="http://schemas.openxmlformats.org/drawingml/2006/main">
              <a:ext uri="{FF2B5EF4-FFF2-40B4-BE49-F238E27FC236}">
                <a16:creationId xmlns:a16="http://schemas.microsoft.com/office/drawing/2014/main" id="{696B9D0F-0E5D-43FA-8D9D-0F92E76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62725"/>
            <a:ext cx="1363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[7] ISCD（2023）</a:t>
            </a:r>
          </a:p>
        </p:txBody>
      </p:sp>
      <p:sp>
        <p:nvSpPr>
          <p:cNvPr id="19" name="Official Adult Positions">
            <a:extLst xmlns:a="http://schemas.openxmlformats.org/drawingml/2006/main">
              <a:ext uri="{FF2B5EF4-FFF2-40B4-BE49-F238E27FC236}">
                <a16:creationId xmlns:a16="http://schemas.microsoft.com/office/drawing/2014/main" id="{34BC5E05-31B8-4558-BCFD-1078CC0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15150"/>
            <a:ext cx="1363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53E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7353E"/>
                </a:solidFill>
                <a:latin typeface="Heiti TC"/>
                <a:ea typeface="Heiti TC"/>
                <a:cs typeface="Heiti TC"/>
              </a:rPr>
              <a:t>Official Adult Positions</a:t>
            </a:r>
          </a:p>
        </p:txBody>
      </p:sp>
      <p:sp>
        <p:nvSpPr>
          <p:cNvPr id="20" name="https://iscd.org/official-positions-2023/">
            <a:extLst xmlns:a="http://schemas.openxmlformats.org/drawingml/2006/main">
              <a:ext uri="{FF2B5EF4-FFF2-40B4-BE49-F238E27FC236}">
                <a16:creationId xmlns:a16="http://schemas.microsoft.com/office/drawing/2014/main" id="{0C342B2B-AC30-46F3-9CFD-17BCDC33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67575"/>
            <a:ext cx="1363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6e27d6986a0403f"/>
              </a:rPr>
              <a:t>https://iscd.org/official-positions-2023/</a:t>
            </a:r>
          </a:p>
        </p:txBody>
      </p:sp>
    </p:spTree>
    <p:extLst>
      <p:ext uri="{BB962C8B-B14F-4D97-AF65-F5344CB8AC3E}">
        <p14:creationId xmlns:p14="http://schemas.microsoft.com/office/powerpoint/2010/main" val="18274895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17  References">
            <a:extLst xmlns:a="http://schemas.openxmlformats.org/drawingml/2006/main">
              <a:ext uri="{FF2B5EF4-FFF2-40B4-BE49-F238E27FC236}">
                <a16:creationId xmlns:a16="http://schemas.microsoft.com/office/drawing/2014/main" id="{D475968C-0863-44BD-8E61-C9561F7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17  References</a:t>
            </a:r>
          </a:p>
        </p:txBody>
      </p:sp>
      <p:sp>
        <p:nvSpPr>
          <p:cNvPr id="2" name="References：AI 方法與補充資料">
            <a:extLst xmlns:a="http://schemas.openxmlformats.org/drawingml/2006/main">
              <a:ext uri="{FF2B5EF4-FFF2-40B4-BE49-F238E27FC236}">
                <a16:creationId xmlns:a16="http://schemas.microsoft.com/office/drawing/2014/main" id="{7E928EBE-1B04-4FB1-B6F8-9066DF5C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363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47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23C47"/>
                </a:solidFill>
                <a:latin typeface="Heiti TC"/>
                <a:ea typeface="Heiti TC"/>
                <a:cs typeface="Heiti TC"/>
              </a:rPr>
              <a:t>References：AI 方法與補充資料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3186-1612-4075-AAD8-88AED54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63980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7D9D9"/>
            </a:solidFill>
          </a:ln>
        </p:spPr>
      </p:sp>
      <p:sp>
        <p:nvSpPr>
          <p:cNvPr id="4" name="OsteoGuard AI Agent">
            <a:extLst xmlns:a="http://schemas.openxmlformats.org/drawingml/2006/main">
              <a:ext uri="{FF2B5EF4-FFF2-40B4-BE49-F238E27FC236}">
                <a16:creationId xmlns:a16="http://schemas.microsoft.com/office/drawing/2014/main" id="{89310273-16F3-4358-84F3-0E6CD86F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1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57078"/>
                </a:solidFill>
                <a:latin typeface="Heiti TC"/>
                <a:ea typeface="Heiti TC"/>
                <a:cs typeface="Heiti TC"/>
              </a:rPr>
              <a:t>OsteoGuard AI Agent</a:t>
            </a:r>
          </a:p>
        </p:txBody>
      </p:sp>
      <p:sp>
        <p:nvSpPr>
          <p:cNvPr id="5" name="31">
            <a:extLst xmlns:a="http://schemas.openxmlformats.org/drawingml/2006/main">
              <a:ext uri="{FF2B5EF4-FFF2-40B4-BE49-F238E27FC236}">
                <a16:creationId xmlns:a16="http://schemas.microsoft.com/office/drawing/2014/main" id="{C0BA86A8-119F-42FD-A802-86057D5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67675"/>
            <a:ext cx="72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6" name="[4] Lundberg &amp; Lee（2017），SHAP，NeurIPS">
            <a:extLst xmlns:a="http://schemas.openxmlformats.org/drawingml/2006/main">
              <a:ext uri="{FF2B5EF4-FFF2-40B4-BE49-F238E27FC236}">
                <a16:creationId xmlns:a16="http://schemas.microsoft.com/office/drawing/2014/main" id="{4C532405-7D1A-4781-9ADF-28A7FC2E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[4] Lundberg &amp; Lee（2017），SHAP，NeurIPS</a:t>
            </a:r>
          </a:p>
        </p:txBody>
      </p:sp>
      <p:sp>
        <p:nvSpPr>
          <p:cNvPr id="7" name="https://arxiv.org/abs/1705.07874">
            <a:extLst xmlns:a="http://schemas.openxmlformats.org/drawingml/2006/main">
              <a:ext uri="{FF2B5EF4-FFF2-40B4-BE49-F238E27FC236}">
                <a16:creationId xmlns:a16="http://schemas.microsoft.com/office/drawing/2014/main" id="{E8F35649-123F-4546-AD8A-1EBB1AF5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136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643d2886d544992"/>
              </a:rPr>
              <a:t>https://arxiv.org/abs/1705.07874</a:t>
            </a:r>
          </a:p>
        </p:txBody>
      </p:sp>
      <p:sp>
        <p:nvSpPr>
          <p:cNvPr id="8" name="[5] Chen &amp; Guestrin（2016），XGBoost，KDD">
            <a:extLst xmlns:a="http://schemas.openxmlformats.org/drawingml/2006/main">
              <a:ext uri="{FF2B5EF4-FFF2-40B4-BE49-F238E27FC236}">
                <a16:creationId xmlns:a16="http://schemas.microsoft.com/office/drawing/2014/main" id="{B2B29548-DA14-429F-BB43-8963DBAC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[5] Chen &amp; Guestrin（2016），XGBoost，KDD</a:t>
            </a:r>
          </a:p>
        </p:txBody>
      </p:sp>
      <p:sp>
        <p:nvSpPr>
          <p:cNvPr id="9" name="https://arxiv.org/abs/1603.02754">
            <a:extLst xmlns:a="http://schemas.openxmlformats.org/drawingml/2006/main">
              <a:ext uri="{FF2B5EF4-FFF2-40B4-BE49-F238E27FC236}">
                <a16:creationId xmlns:a16="http://schemas.microsoft.com/office/drawing/2014/main" id="{0D373972-969C-4CFD-8E95-9D10704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36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d42142233b9492d"/>
              </a:rPr>
              <a:t>https://arxiv.org/abs/1603.02754</a:t>
            </a:r>
          </a:p>
        </p:txBody>
      </p:sp>
      <p:sp>
        <p:nvSpPr>
          <p:cNvPr id="10" name="[8] Lewis et al.（2020），Retrieval-Augmented Ge">
            <a:extLst xmlns:a="http://schemas.openxmlformats.org/drawingml/2006/main">
              <a:ext uri="{FF2B5EF4-FFF2-40B4-BE49-F238E27FC236}">
                <a16:creationId xmlns:a16="http://schemas.microsoft.com/office/drawing/2014/main" id="{B53CF851-399F-40E2-A570-3266156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[8] Lewis et al.（2020），Retrieval-Augmented Generation，NeurIPS</a:t>
            </a:r>
          </a:p>
        </p:txBody>
      </p:sp>
      <p:sp>
        <p:nvSpPr>
          <p:cNvPr id="11" name="https://arxiv.org/abs/2005.11401">
            <a:extLst xmlns:a="http://schemas.openxmlformats.org/drawingml/2006/main">
              <a:ext uri="{FF2B5EF4-FFF2-40B4-BE49-F238E27FC236}">
                <a16:creationId xmlns:a16="http://schemas.microsoft.com/office/drawing/2014/main" id="{E3A06A39-AACE-4436-AA3B-F7F2F4F3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136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a1dd9c9c9604e5e"/>
              </a:rPr>
              <a:t>https://arxiv.org/abs/2005.11401</a:t>
            </a:r>
          </a:p>
        </p:txBody>
      </p:sp>
      <p:sp>
        <p:nvSpPr>
          <p:cNvPr id="12" name="[9] Yao et al.（2023），ReAct，ICLR">
            <a:extLst xmlns:a="http://schemas.openxmlformats.org/drawingml/2006/main">
              <a:ext uri="{FF2B5EF4-FFF2-40B4-BE49-F238E27FC236}">
                <a16:creationId xmlns:a16="http://schemas.microsoft.com/office/drawing/2014/main" id="{C21C7312-C325-4374-8A7A-BBBD7DB8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[9] Yao et al.（2023），ReAct，ICLR</a:t>
            </a:r>
          </a:p>
        </p:txBody>
      </p:sp>
      <p:sp>
        <p:nvSpPr>
          <p:cNvPr id="13" name="https://arxiv.org/abs/2210.03629">
            <a:extLst xmlns:a="http://schemas.openxmlformats.org/drawingml/2006/main">
              <a:ext uri="{FF2B5EF4-FFF2-40B4-BE49-F238E27FC236}">
                <a16:creationId xmlns:a16="http://schemas.microsoft.com/office/drawing/2014/main" id="{3FD4223D-57CA-41D8-9DBB-0887F2A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36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90dd1eb48de4a4b"/>
              </a:rPr>
              <a:t>https://arxiv.org/abs/2210.03629</a:t>
            </a:r>
          </a:p>
        </p:txBody>
      </p:sp>
      <p:sp>
        <p:nvSpPr>
          <p:cNvPr id="14" name="[10] 衛生福利部（2026），2026 健康台灣樂齡論壇">
            <a:extLst xmlns:a="http://schemas.openxmlformats.org/drawingml/2006/main">
              <a:ext uri="{FF2B5EF4-FFF2-40B4-BE49-F238E27FC236}">
                <a16:creationId xmlns:a16="http://schemas.microsoft.com/office/drawing/2014/main" id="{1F1CDB05-2757-4C9E-8D9C-54E22847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[10] 衛生福利部（2026），2026 健康台灣樂齡論壇</a:t>
            </a:r>
          </a:p>
        </p:txBody>
      </p:sp>
      <p:sp>
        <p:nvSpPr>
          <p:cNvPr id="15" name="https://www.mohw.gov.tw/cp-7396-85340-1.html">
            <a:extLst xmlns:a="http://schemas.openxmlformats.org/drawingml/2006/main">
              <a:ext uri="{FF2B5EF4-FFF2-40B4-BE49-F238E27FC236}">
                <a16:creationId xmlns:a16="http://schemas.microsoft.com/office/drawing/2014/main" id="{0F16C47F-4BEC-4A4B-806E-7088C957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136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b1102742c1748d3"/>
              </a:rPr>
              <a:t>https://www.mohw.gov.tw/cp-7396-85340-1.html</a:t>
            </a:r>
          </a:p>
        </p:txBody>
      </p:sp>
      <p:sp>
        <p:nvSpPr>
          <p:cNvPr id="16" name="[11] NIAMS，Calcium and Vitamin D: Important f">
            <a:extLst xmlns:a="http://schemas.openxmlformats.org/drawingml/2006/main">
              <a:ext uri="{FF2B5EF4-FFF2-40B4-BE49-F238E27FC236}">
                <a16:creationId xmlns:a16="http://schemas.microsoft.com/office/drawing/2014/main" id="{D85258B3-F8B6-4ABD-92B5-8BE3E84C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10375"/>
            <a:ext cx="1363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2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087F82"/>
                </a:solidFill>
                <a:latin typeface="Heiti TC"/>
                <a:ea typeface="Heiti TC"/>
                <a:cs typeface="Heiti TC"/>
              </a:rPr>
              <a:t>[11] NIAMS，Calcium and Vitamin D: Important for Bone Health</a:t>
            </a:r>
          </a:p>
        </p:txBody>
      </p:sp>
      <p:sp>
        <p:nvSpPr>
          <p:cNvPr id="17" name="https://www.niams.nih.gov/health-topics/calci">
            <a:extLst xmlns:a="http://schemas.openxmlformats.org/drawingml/2006/main">
              <a:ext uri="{FF2B5EF4-FFF2-40B4-BE49-F238E27FC236}">
                <a16:creationId xmlns:a16="http://schemas.microsoft.com/office/drawing/2014/main" id="{2B80879A-32E4-4C9D-BD6E-DE3C37D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29475"/>
            <a:ext cx="136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078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57078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09cbce252024ba7"/>
              </a:rPr>
              <a:t>https://www.niams.nih.gov/health-topics/calcium-and-vitamin-d-important-bone-health</a:t>
            </a:r>
          </a:p>
        </p:txBody>
      </p:sp>
    </p:spTree>
    <p:extLst>
      <p:ext uri="{BB962C8B-B14F-4D97-AF65-F5344CB8AC3E}">
        <p14:creationId xmlns:p14="http://schemas.microsoft.com/office/powerpoint/2010/main" val="593469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2026-10-28T15:48:46.6770000Z</dcterms:created>
  <dcterms:modified xsi:type="dcterms:W3CDTF">2026-10-28T15:48:46.6770000Z</dcterms:modified>
</coreProperties>
</file>